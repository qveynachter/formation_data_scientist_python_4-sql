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64" r:id="rId2"/>
    <p:sldId id="257" r:id="rId3"/>
    <p:sldId id="362" r:id="rId4"/>
    <p:sldId id="363" r:id="rId5"/>
    <p:sldId id="364" r:id="rId6"/>
    <p:sldId id="365" r:id="rId7"/>
    <p:sldId id="366" r:id="rId8"/>
    <p:sldId id="373" r:id="rId9"/>
    <p:sldId id="374" r:id="rId10"/>
    <p:sldId id="375" r:id="rId11"/>
    <p:sldId id="376" r:id="rId12"/>
    <p:sldId id="377" r:id="rId13"/>
    <p:sldId id="378" r:id="rId14"/>
    <p:sldId id="379" r:id="rId15"/>
    <p:sldId id="380" r:id="rId16"/>
    <p:sldId id="381" r:id="rId17"/>
    <p:sldId id="382" r:id="rId18"/>
    <p:sldId id="383" r:id="rId19"/>
    <p:sldId id="384" r:id="rId20"/>
    <p:sldId id="385" r:id="rId21"/>
    <p:sldId id="386" r:id="rId22"/>
  </p:sldIdLst>
  <p:sldSz cx="12192000" cy="6858000"/>
  <p:notesSz cx="6858000" cy="9144000"/>
  <p:defaultTextStyle>
    <a:defPPr rtl="0"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A694F3-6F7B-4B24-8006-AA803356724E}" v="1363" dt="2024-05-18T19:27:34.7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D450AB22-52FC-40E6-98AA-74BCCD5188D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2B9199D-72B2-45AE-A712-E5736A22F0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426B1-7527-4E28-B97D-380F113BB44F}" type="datetime1">
              <a:rPr lang="fr-FR" smtClean="0"/>
              <a:t>03/07/2024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61359D5-DD6B-4137-AD75-B46D5171422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55F9710-A4BE-4433-A7ED-20397B3D731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6D19D5-D423-4C7D-BE37-350F3D82A9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523703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6DAC19-97A4-4601-8E6F-C9F59AF9B80C}" type="datetime1">
              <a:rPr lang="fr-FR" smtClean="0"/>
              <a:pPr/>
              <a:t>03/07/2024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9D9EE5-14A8-4D2F-A0BD-1BB33ACFF7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52047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ea typeface="+mj-lt"/>
                <a:cs typeface="+mj-lt"/>
              </a:rPr>
              <a:t>Segmentation des clients que les équipes </a:t>
            </a:r>
            <a:r>
              <a:rPr lang="en-US" sz="1200" dirty="0" err="1">
                <a:ea typeface="+mj-lt"/>
                <a:cs typeface="+mj-lt"/>
              </a:rPr>
              <a:t>d’e</a:t>
            </a:r>
            <a:r>
              <a:rPr lang="en-US" sz="1200" dirty="0">
                <a:ea typeface="+mj-lt"/>
                <a:cs typeface="+mj-lt"/>
              </a:rPr>
              <a:t>-commerce </a:t>
            </a:r>
            <a:r>
              <a:rPr lang="en-US" sz="1200" dirty="0" err="1">
                <a:ea typeface="+mj-lt"/>
                <a:cs typeface="+mj-lt"/>
              </a:rPr>
              <a:t>pourront</a:t>
            </a:r>
            <a:r>
              <a:rPr lang="en-US" sz="1200" dirty="0">
                <a:ea typeface="+mj-lt"/>
                <a:cs typeface="+mj-lt"/>
              </a:rPr>
              <a:t> </a:t>
            </a:r>
            <a:r>
              <a:rPr lang="en-US" sz="1200" dirty="0" err="1">
                <a:ea typeface="+mj-lt"/>
                <a:cs typeface="+mj-lt"/>
              </a:rPr>
              <a:t>utiliser</a:t>
            </a:r>
            <a:r>
              <a:rPr lang="en-US" sz="1200" dirty="0">
                <a:ea typeface="+mj-lt"/>
                <a:cs typeface="+mj-lt"/>
              </a:rPr>
              <a:t> au </a:t>
            </a:r>
            <a:r>
              <a:rPr lang="en-US" sz="1200" dirty="0" err="1">
                <a:ea typeface="+mj-lt"/>
                <a:cs typeface="+mj-lt"/>
              </a:rPr>
              <a:t>quotidien</a:t>
            </a:r>
            <a:r>
              <a:rPr lang="en-US" sz="1200" dirty="0">
                <a:ea typeface="+mj-lt"/>
                <a:cs typeface="+mj-lt"/>
              </a:rPr>
              <a:t> pour </a:t>
            </a:r>
            <a:r>
              <a:rPr lang="en-US" sz="1200" dirty="0" err="1">
                <a:ea typeface="+mj-lt"/>
                <a:cs typeface="+mj-lt"/>
              </a:rPr>
              <a:t>leurs</a:t>
            </a:r>
            <a:r>
              <a:rPr lang="en-US" sz="1200" dirty="0">
                <a:ea typeface="+mj-lt"/>
                <a:cs typeface="+mj-lt"/>
              </a:rPr>
              <a:t> </a:t>
            </a:r>
            <a:r>
              <a:rPr lang="en-US" sz="1200" dirty="0" err="1">
                <a:ea typeface="+mj-lt"/>
                <a:cs typeface="+mj-lt"/>
              </a:rPr>
              <a:t>campagnes</a:t>
            </a:r>
            <a:r>
              <a:rPr lang="en-US" sz="1200" dirty="0">
                <a:ea typeface="+mj-lt"/>
                <a:cs typeface="+mj-lt"/>
              </a:rPr>
              <a:t> de communication</a:t>
            </a:r>
          </a:p>
          <a:p>
            <a:r>
              <a:rPr lang="en-US" sz="1200" dirty="0" err="1">
                <a:ea typeface="+mj-lt"/>
                <a:cs typeface="+mj-lt"/>
              </a:rPr>
              <a:t>Contrat</a:t>
            </a:r>
            <a:r>
              <a:rPr lang="en-US" sz="1200" dirty="0">
                <a:ea typeface="+mj-lt"/>
                <a:cs typeface="+mj-lt"/>
              </a:rPr>
              <a:t> de maintenance </a:t>
            </a:r>
            <a:r>
              <a:rPr lang="en-US" sz="1200" dirty="0" err="1">
                <a:ea typeface="+mj-lt"/>
                <a:cs typeface="+mj-lt"/>
              </a:rPr>
              <a:t>basé</a:t>
            </a:r>
            <a:r>
              <a:rPr lang="en-US" sz="1200" dirty="0">
                <a:ea typeface="+mj-lt"/>
                <a:cs typeface="+mj-lt"/>
              </a:rPr>
              <a:t> sur </a:t>
            </a:r>
            <a:r>
              <a:rPr lang="en-US" sz="1200" dirty="0" err="1">
                <a:ea typeface="+mj-lt"/>
                <a:cs typeface="+mj-lt"/>
              </a:rPr>
              <a:t>une</a:t>
            </a:r>
            <a:r>
              <a:rPr lang="en-US" sz="1200" dirty="0">
                <a:ea typeface="+mj-lt"/>
                <a:cs typeface="+mj-lt"/>
              </a:rPr>
              <a:t> </a:t>
            </a:r>
            <a:r>
              <a:rPr lang="en-US" sz="1200" dirty="0" err="1">
                <a:ea typeface="+mj-lt"/>
                <a:cs typeface="+mj-lt"/>
              </a:rPr>
              <a:t>analyse</a:t>
            </a:r>
            <a:r>
              <a:rPr lang="en-US" sz="1200" dirty="0">
                <a:ea typeface="+mj-lt"/>
                <a:cs typeface="+mj-lt"/>
              </a:rPr>
              <a:t> de la </a:t>
            </a:r>
            <a:r>
              <a:rPr lang="en-US" sz="1200" dirty="0" err="1">
                <a:ea typeface="+mj-lt"/>
                <a:cs typeface="+mj-lt"/>
              </a:rPr>
              <a:t>stabilité</a:t>
            </a:r>
            <a:r>
              <a:rPr lang="en-US" sz="1200" dirty="0">
                <a:ea typeface="+mj-lt"/>
                <a:cs typeface="+mj-lt"/>
              </a:rPr>
              <a:t> des segments au </a:t>
            </a:r>
            <a:r>
              <a:rPr lang="en-US" sz="1200" dirty="0" err="1">
                <a:ea typeface="+mj-lt"/>
                <a:cs typeface="+mj-lt"/>
              </a:rPr>
              <a:t>cours</a:t>
            </a:r>
            <a:r>
              <a:rPr lang="en-US" sz="1200" dirty="0">
                <a:ea typeface="+mj-lt"/>
                <a:cs typeface="+mj-lt"/>
              </a:rPr>
              <a:t> du temps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9D9EE5-14A8-4D2F-A0BD-1BB33ACFF757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6461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1 - En excluant les commandes annulées, quelles sont les commandes récentes de moins de 3 mois que les clients ont reçues avec au moins 3 jours de retard 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2 - Qui sont les vendeurs ayant généré un chiffre d'affaires de plus de 100 000 Real sur des commandes livrées via </a:t>
            </a:r>
            <a:r>
              <a:rPr lang="fr-FR" b="0" dirty="0" err="1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Olist</a:t>
            </a:r>
            <a:r>
              <a:rPr lang="fr-FR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?</a:t>
            </a:r>
            <a:endParaRPr lang="fr-FR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3 - </a:t>
            </a:r>
            <a:r>
              <a:rPr lang="fr-FR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Qui sont les nouveaux vendeurs (moins de 3 mois d'ancienneté) qui sont déjà très engagés avec la plateforme (ayant déjà vendu plus de 30 produits) ?</a:t>
            </a:r>
            <a:endParaRPr lang="fr-FR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4 - </a:t>
            </a:r>
            <a:r>
              <a:rPr lang="fr-FR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Quels sont les 5 codes postaux, enregistrant plus de 30 </a:t>
            </a:r>
            <a:r>
              <a:rPr lang="fr-FR" b="0" dirty="0" err="1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reviews</a:t>
            </a:r>
            <a:r>
              <a:rPr lang="fr-FR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 avec le pire </a:t>
            </a:r>
            <a:r>
              <a:rPr lang="fr-FR" b="0" dirty="0" err="1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review</a:t>
            </a:r>
            <a:r>
              <a:rPr lang="fr-FR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score moyen sur les 12 derniers mois ?</a:t>
            </a:r>
            <a:endParaRPr lang="fr-FR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9D9EE5-14A8-4D2F-A0BD-1BB33ACFF757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56190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9D9EE5-14A8-4D2F-A0BD-1BB33ACFF757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57969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Retrait également de 750 lignes (sur 990 000) où il n’y a pas de </a:t>
            </a:r>
            <a:r>
              <a:rPr lang="fr-FR" dirty="0" err="1"/>
              <a:t>review</a:t>
            </a:r>
            <a:r>
              <a:rPr lang="fr-FR" dirty="0"/>
              <a:t> score, pour faciliter la modélisation plus tard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9D9EE5-14A8-4D2F-A0BD-1BB33ACFF757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92829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Je conserve la colonne date pour l’ARI qu’on fera plus tard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9D9EE5-14A8-4D2F-A0BD-1BB33ACFF757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4451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9D9EE5-14A8-4D2F-A0BD-1BB33ACFF757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17863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Comme 97% des clients n'ont passé qu'une seule commande, cela montre surtout qu'il y a beaucoup de nouveaux clients et que le volume de commandes augmente</a:t>
            </a:r>
          </a:p>
          <a:p>
            <a:r>
              <a:rPr lang="fr-FR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Le </a:t>
            </a:r>
            <a:r>
              <a:rPr lang="fr-FR" b="0" dirty="0" err="1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boxplot</a:t>
            </a:r>
            <a:r>
              <a:rPr lang="fr-FR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est peu lisible donc je ne l’ai pas </a:t>
            </a:r>
            <a:r>
              <a:rPr lang="fr-FR" b="0" dirty="0" err="1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inclu</a:t>
            </a:r>
            <a:r>
              <a:rPr lang="fr-FR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à la présentation mais 75% des paniers moyens sont inférieurs à 174,3 </a:t>
            </a:r>
            <a:r>
              <a:rPr lang="fr-FR" b="0" dirty="0" err="1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réals</a:t>
            </a:r>
            <a:r>
              <a:rPr lang="fr-FR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(avec des </a:t>
            </a:r>
            <a:r>
              <a:rPr lang="fr-FR" b="0" dirty="0" err="1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outliers</a:t>
            </a:r>
            <a:r>
              <a:rPr lang="fr-FR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qui montent jusqu’à 13664 </a:t>
            </a:r>
            <a:r>
              <a:rPr lang="fr-FR" b="0" dirty="0" err="1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réals</a:t>
            </a:r>
            <a:r>
              <a:rPr lang="fr-FR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</a:t>
            </a:r>
            <a:endParaRPr lang="fr-FR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9D9EE5-14A8-4D2F-A0BD-1BB33ACFF757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45130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9D9EE5-14A8-4D2F-A0BD-1BB33ACFF757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27582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9D9EE5-14A8-4D2F-A0BD-1BB33ACFF757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46201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9D9EE5-14A8-4D2F-A0BD-1BB33ACFF757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63117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dirty="0">
                <a:solidFill>
                  <a:srgbClr val="6796E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-</a:t>
            </a:r>
            <a:r>
              <a:rPr lang="fr-F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Le cluster 0 regroupe les clients n'ayant plus commandé depuis moins de 250 jours</a:t>
            </a:r>
          </a:p>
          <a:p>
            <a:r>
              <a:rPr lang="fr-FR" b="0" dirty="0">
                <a:solidFill>
                  <a:srgbClr val="6796E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-</a:t>
            </a:r>
            <a:r>
              <a:rPr lang="fr-F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Le cluster 1 regroupe les clients ayant un faible </a:t>
            </a:r>
            <a:r>
              <a:rPr lang="fr-FR" b="0" dirty="0" err="1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review</a:t>
            </a:r>
            <a:r>
              <a:rPr lang="fr-F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score moyen</a:t>
            </a:r>
          </a:p>
          <a:p>
            <a:r>
              <a:rPr lang="fr-FR" b="0" dirty="0">
                <a:solidFill>
                  <a:srgbClr val="6796E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-</a:t>
            </a:r>
            <a:r>
              <a:rPr lang="fr-F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Le cluster 2 regroupe les clients n'ayant plus commandé depuis plus de 250 jours</a:t>
            </a:r>
          </a:p>
          <a:p>
            <a:r>
              <a:rPr lang="fr-FR" b="0" dirty="0">
                <a:solidFill>
                  <a:srgbClr val="6796E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-</a:t>
            </a:r>
            <a:r>
              <a:rPr lang="fr-F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Le cluster 3 regroupe les clients ayant passé plusieurs commandes</a:t>
            </a:r>
          </a:p>
          <a:p>
            <a:r>
              <a:rPr lang="fr-FR" b="0" dirty="0">
                <a:solidFill>
                  <a:srgbClr val="6796E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-</a:t>
            </a:r>
            <a:r>
              <a:rPr lang="fr-F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Le cluster 4 regroupe les clients ayant des paniers moyens élevés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9D9EE5-14A8-4D2F-A0BD-1BB33ACFF757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9062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dirty="0">
                <a:solidFill>
                  <a:srgbClr val="6796E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J’ai fait tourner le code une première fois, ça a mouliné pendant très longtemps et les dendrogrammes étaient surchargés</a:t>
            </a:r>
          </a:p>
          <a:p>
            <a:r>
              <a:rPr lang="fr-FR" b="0" dirty="0">
                <a:solidFill>
                  <a:srgbClr val="6796E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Ils faisaient ressortir 5 clusters à chaque fois, alors j’ai découpé en conséquence</a:t>
            </a:r>
          </a:p>
          <a:p>
            <a:r>
              <a:rPr lang="fr-FR" b="0" dirty="0">
                <a:solidFill>
                  <a:srgbClr val="6796E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On va gagner du temps, globalement on aboutit aux mêmes caractéristiques de clusters avec le CAH qu’avec le k-</a:t>
            </a:r>
            <a:r>
              <a:rPr lang="fr-FR" b="0" dirty="0" err="1">
                <a:solidFill>
                  <a:srgbClr val="6796E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means</a:t>
            </a:r>
            <a:r>
              <a:rPr lang="fr-FR" b="0" dirty="0">
                <a:solidFill>
                  <a:srgbClr val="6796E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 les visualisations sont similaires</a:t>
            </a:r>
          </a:p>
          <a:p>
            <a:r>
              <a:rPr lang="fr-FR" b="0" dirty="0">
                <a:solidFill>
                  <a:srgbClr val="6796E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Globalement le CAH est moins bien adapté au jeu de données, plus d’étapes et de temps de calcul pour le même résultat</a:t>
            </a:r>
            <a:endParaRPr lang="fr-FR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9D9EE5-14A8-4D2F-A0BD-1BB33ACFF757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47253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dirty="0">
                <a:solidFill>
                  <a:srgbClr val="6796E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2 paramètres à considérer : </a:t>
            </a:r>
            <a:r>
              <a:rPr lang="fr-FR" b="0" dirty="0" err="1">
                <a:solidFill>
                  <a:srgbClr val="6796E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min_samples</a:t>
            </a:r>
            <a:r>
              <a:rPr lang="fr-FR" b="0" dirty="0">
                <a:solidFill>
                  <a:srgbClr val="6796E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et </a:t>
            </a:r>
            <a:r>
              <a:rPr lang="fr-FR" b="0" dirty="0" err="1">
                <a:solidFill>
                  <a:srgbClr val="6796E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eps</a:t>
            </a:r>
            <a:r>
              <a:rPr lang="fr-FR" b="0" dirty="0">
                <a:solidFill>
                  <a:srgbClr val="6796E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.</a:t>
            </a:r>
          </a:p>
          <a:p>
            <a:r>
              <a:rPr lang="fr-FR" b="0" dirty="0">
                <a:solidFill>
                  <a:srgbClr val="6796E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Il est recommandé que </a:t>
            </a:r>
            <a:r>
              <a:rPr lang="fr-FR" b="0" dirty="0" err="1">
                <a:solidFill>
                  <a:srgbClr val="6796E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min_samples</a:t>
            </a:r>
            <a:r>
              <a:rPr lang="fr-FR" b="0" dirty="0">
                <a:solidFill>
                  <a:srgbClr val="6796E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&gt; dimension du jeu de données, donc on utilise </a:t>
            </a:r>
            <a:r>
              <a:rPr lang="fr-FR" b="0" dirty="0" err="1">
                <a:solidFill>
                  <a:srgbClr val="6796E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min_samples</a:t>
            </a:r>
            <a:r>
              <a:rPr lang="fr-FR" b="0" dirty="0">
                <a:solidFill>
                  <a:srgbClr val="6796E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= 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0" dirty="0">
                <a:solidFill>
                  <a:srgbClr val="6796E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Pour déterminer la meilleur valeur </a:t>
            </a:r>
            <a:r>
              <a:rPr lang="fr-FR" b="0" dirty="0" err="1">
                <a:solidFill>
                  <a:srgbClr val="6796E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d’eps</a:t>
            </a:r>
            <a:r>
              <a:rPr lang="fr-FR" b="0" dirty="0">
                <a:solidFill>
                  <a:srgbClr val="6796E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 une méthode consiste à utiliser k-NN</a:t>
            </a:r>
            <a:r>
              <a:rPr lang="fr-F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 de prendre la valeur de </a:t>
            </a:r>
            <a:r>
              <a:rPr lang="fr-FR" b="0" dirty="0" err="1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min_samples</a:t>
            </a:r>
            <a:r>
              <a:rPr lang="fr-F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comme k, de calculer la distance moyenne entre chaque point et ses k voisins les plus proches. En affichant les valeurs de façon ascendante, on devrait voir apparaître un coude dans la courbe (similaire au k-</a:t>
            </a:r>
            <a:r>
              <a:rPr lang="fr-FR" b="0" dirty="0" err="1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means</a:t>
            </a:r>
            <a:r>
              <a:rPr lang="fr-F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), la distance au niveau du coude correspond à la valeur idéale </a:t>
            </a:r>
            <a:r>
              <a:rPr lang="fr-FR" b="0" dirty="0" err="1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d'eps</a:t>
            </a:r>
            <a:r>
              <a:rPr lang="fr-F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Cependant, choisir un </a:t>
            </a:r>
            <a:r>
              <a:rPr lang="fr-FR" b="0" dirty="0" err="1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eps</a:t>
            </a:r>
            <a:r>
              <a:rPr lang="fr-F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trop bas reviendrait à créer de nombreux clusters de peu d'individus, donc j’ai pris la liberté de tâtonner avec ce paramètre, quitte à choisir une valeur plus haute que le coude observé. ~50 clusters avec </a:t>
            </a:r>
            <a:r>
              <a:rPr lang="fr-FR" b="0" dirty="0" err="1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eps</a:t>
            </a:r>
            <a:r>
              <a:rPr lang="fr-F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=0,5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DBSCAN nous complique la tâche et n’est pas adapté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9D9EE5-14A8-4D2F-A0BD-1BB33ACFF757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43399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A noter que la variance est bien partagée entre nos 4 composantes (24 à 26%)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9D9EE5-14A8-4D2F-A0BD-1BB33ACFF757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23397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Sans code couleur, j’aurais été incapable de discerner les anciens clients, nouveaux clients et clients peu satisfaits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Rien ne change en retirant les </a:t>
            </a:r>
            <a:r>
              <a:rPr lang="fr-FR" b="0" dirty="0" err="1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outliers</a:t>
            </a:r>
            <a:endParaRPr lang="fr-FR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endParaRPr lang="fr-FR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9D9EE5-14A8-4D2F-A0BD-1BB33ACFF757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98960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9D9EE5-14A8-4D2F-A0BD-1BB33ACFF757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28494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9D9EE5-14A8-4D2F-A0BD-1BB33ACFF757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79255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Pas de </a:t>
            </a:r>
            <a:r>
              <a:rPr lang="en-US" sz="1200" dirty="0" err="1"/>
              <a:t>changement</a:t>
            </a:r>
            <a:r>
              <a:rPr lang="en-US" sz="1200" dirty="0"/>
              <a:t> au </a:t>
            </a:r>
            <a:r>
              <a:rPr lang="en-US" sz="1200" dirty="0" err="1"/>
              <a:t>niveau</a:t>
            </a:r>
            <a:r>
              <a:rPr lang="en-US" sz="1200" dirty="0"/>
              <a:t> du </a:t>
            </a:r>
            <a:r>
              <a:rPr lang="en-US" sz="1200" dirty="0" err="1"/>
              <a:t>nombre</a:t>
            </a:r>
            <a:r>
              <a:rPr lang="en-US" sz="1200" dirty="0"/>
              <a:t> de </a:t>
            </a:r>
            <a:r>
              <a:rPr lang="en-US" sz="1200" dirty="0" err="1"/>
              <a:t>commandes</a:t>
            </a:r>
            <a:br>
              <a:rPr lang="en-US" sz="1200" dirty="0"/>
            </a:br>
            <a:r>
              <a:rPr lang="en-US" sz="1200" dirty="0" err="1"/>
              <a:t>Jours</a:t>
            </a:r>
            <a:r>
              <a:rPr lang="en-US" sz="1200" dirty="0"/>
              <a:t> </a:t>
            </a:r>
            <a:r>
              <a:rPr lang="en-US" sz="1200" dirty="0" err="1"/>
              <a:t>depuis</a:t>
            </a:r>
            <a:r>
              <a:rPr lang="en-US" sz="1200" dirty="0"/>
              <a:t> la </a:t>
            </a:r>
            <a:r>
              <a:rPr lang="en-US" sz="1200" dirty="0" err="1"/>
              <a:t>dernière</a:t>
            </a:r>
            <a:r>
              <a:rPr lang="en-US" sz="1200" dirty="0"/>
              <a:t> </a:t>
            </a:r>
            <a:r>
              <a:rPr lang="en-US" sz="1200" dirty="0" err="1"/>
              <a:t>commande</a:t>
            </a:r>
            <a:r>
              <a:rPr lang="en-US" sz="1200" dirty="0"/>
              <a:t> pas comparable</a:t>
            </a:r>
            <a:endParaRPr lang="fr-FR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9D9EE5-14A8-4D2F-A0BD-1BB33ACFF757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09958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Malgré certains résultats du test de Kolmogorov-Smirnov, rien de choquant en ce qui concerne la distribution des variables dans le temps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9D9EE5-14A8-4D2F-A0BD-1BB33ACFF757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21623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9D9EE5-14A8-4D2F-A0BD-1BB33ACFF757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1054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rtlCol="0" anchor="b"/>
          <a:lstStyle>
            <a:lvl1pPr>
              <a:defRPr sz="72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rtlCol="0"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CC754D9-8403-4920-99DE-7A11B3EB392D}" type="datetime1">
              <a:rPr lang="fr-FR" noProof="0" smtClean="0"/>
              <a:t>03/07/2024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CD78179-134A-413C-9D9E-CE85F9A9554A}" type="datetime1">
              <a:rPr lang="fr-FR" noProof="0" smtClean="0"/>
              <a:t>03/07/2024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rtlCol="0" anchor="b"/>
          <a:lstStyle>
            <a:lvl1pPr algn="l">
              <a:defRPr sz="4000" b="0" cap="none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54955" y="4777381"/>
            <a:ext cx="8825658" cy="860400"/>
          </a:xfrm>
        </p:spPr>
        <p:txBody>
          <a:bodyPr rtlCol="0"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EC2181A-20E0-48F1-8B0C-0171BD4BC4FC}" type="datetime1">
              <a:rPr lang="fr-FR" noProof="0" smtClean="0"/>
              <a:t>03/07/2024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1103312" y="2060575"/>
            <a:ext cx="4396339" cy="4195763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5654493" y="2056092"/>
            <a:ext cx="4396341" cy="4200245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4DDFBC9-DF66-450F-9B47-163A607B32B5}" type="datetime1">
              <a:rPr lang="fr-FR" noProof="0" smtClean="0"/>
              <a:t>03/07/2024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03313" y="1905000"/>
            <a:ext cx="4396338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1103312" y="2514600"/>
            <a:ext cx="4396339" cy="3741738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5654495" y="1905000"/>
            <a:ext cx="4396339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5654495" y="2514600"/>
            <a:ext cx="4396339" cy="3741738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D9A2534-DEDE-4B74-ACE3-4739456B341E}" type="datetime1">
              <a:rPr lang="fr-FR" noProof="0" smtClean="0"/>
              <a:t>03/07/2024</a:t>
            </a:fld>
            <a:endParaRPr lang="fr-FR" noProof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7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699A1F2-963C-4433-9938-07FA0A1EA149}" type="datetime1">
              <a:rPr lang="fr-FR" noProof="0" smtClean="0"/>
              <a:t>03/07/2024</a:t>
            </a:fld>
            <a:endParaRPr lang="fr-FR" noProof="0"/>
          </a:p>
        </p:txBody>
      </p:sp>
      <p:sp>
        <p:nvSpPr>
          <p:cNvPr id="5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6321462-A4AC-4C47-B649-01878A1A064F}" type="datetime1">
              <a:rPr lang="fr-FR" noProof="0" smtClean="0"/>
              <a:t>03/07/2024</a:t>
            </a:fld>
            <a:endParaRPr lang="fr-FR" noProof="0"/>
          </a:p>
        </p:txBody>
      </p:sp>
      <p:sp>
        <p:nvSpPr>
          <p:cNvPr id="5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rtlCol="0" anchor="b"/>
          <a:lstStyle>
            <a:lvl1pPr algn="l">
              <a:defRPr sz="2400" b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784616" y="1447800"/>
            <a:ext cx="5195997" cy="4572000"/>
          </a:xfrm>
        </p:spPr>
        <p:txBody>
          <a:bodyPr rtlCol="0"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54953" y="3129280"/>
            <a:ext cx="3401063" cy="2895599"/>
          </a:xfrm>
        </p:spPr>
        <p:txBody>
          <a:bodyPr rtlCol="0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7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58B83CE-0B77-4D5B-ABB2-11D315121664}" type="datetime1">
              <a:rPr lang="fr-FR" noProof="0" smtClean="0"/>
              <a:t>03/07/2024</a:t>
            </a:fld>
            <a:endParaRPr lang="fr-FR" noProof="0"/>
          </a:p>
        </p:txBody>
      </p:sp>
      <p:sp>
        <p:nvSpPr>
          <p:cNvPr id="5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rtlCol="0" anchor="b">
            <a:normAutofit/>
          </a:bodyPr>
          <a:lstStyle>
            <a:lvl1pPr algn="l">
              <a:defRPr sz="3600" b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54954" y="3657600"/>
            <a:ext cx="5084979" cy="1371600"/>
          </a:xfrm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3D38337-0C26-419D-8506-A7BD0E35E1A9}" type="datetime1">
              <a:rPr lang="fr-FR" noProof="0" smtClean="0"/>
              <a:t>03/07/2024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54956" y="5367325"/>
            <a:ext cx="8825656" cy="4937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52016B0-50B5-47B5-A44A-13E00F7CDA92}" type="datetime1">
              <a:rPr lang="fr-FR" noProof="0" smtClean="0"/>
              <a:t>03/07/2024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 rtlCol="0"/>
          <a:lstStyle>
            <a:lvl1pPr>
              <a:defRPr sz="48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8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54954" y="3657600"/>
            <a:ext cx="8825659" cy="2362200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5E54252-1D92-4478-9B35-EF53CB57F087}" type="datetime1">
              <a:rPr lang="fr-FR" noProof="0" smtClean="0"/>
              <a:t>03/07/2024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 rtlCol="0"/>
          <a:lstStyle>
            <a:lvl1pPr>
              <a:defRPr sz="48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1" name="Espace réservé du texte 3"/>
          <p:cNvSpPr>
            <a:spLocks noGrp="1"/>
          </p:cNvSpPr>
          <p:nvPr>
            <p:ph type="body" sz="half" idx="14" hasCustomPrompt="1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rtl="0">
              <a:buNone/>
            </a:pPr>
            <a:r>
              <a:rPr lang="fr-FR" noProof="0"/>
              <a:t>Modifiez les styles du texte</a:t>
            </a:r>
          </a:p>
        </p:txBody>
      </p:sp>
      <p:sp>
        <p:nvSpPr>
          <p:cNvPr id="10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54954" y="4350657"/>
            <a:ext cx="8825659" cy="1676400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1C55A38-EB06-4BE8-943C-A998B4C9E3F3}" type="datetime1">
              <a:rPr lang="fr-FR" noProof="0" smtClean="0"/>
              <a:t>03/07/2024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2" name="Zone de texte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“</a:t>
            </a:r>
          </a:p>
        </p:txBody>
      </p:sp>
      <p:sp>
        <p:nvSpPr>
          <p:cNvPr id="15" name="Zone de texte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professionn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rtlCol="0" anchor="b"/>
          <a:lstStyle>
            <a:lvl1pPr algn="l">
              <a:defRPr sz="4000" b="0" cap="none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54954" y="4777381"/>
            <a:ext cx="8825659" cy="860400"/>
          </a:xfrm>
        </p:spPr>
        <p:txBody>
          <a:bodyPr rtlCol="0"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AF8690B-5D8F-4E48-B212-77F0BC48118D}" type="datetime1">
              <a:rPr lang="fr-FR" noProof="0" smtClean="0"/>
              <a:t>03/07/2024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 sz="42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32947" y="1981200"/>
            <a:ext cx="2946866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6" name="Espace réservé du texte 3"/>
          <p:cNvSpPr>
            <a:spLocks noGrp="1"/>
          </p:cNvSpPr>
          <p:nvPr>
            <p:ph type="body" sz="half" idx="15" hasCustomPrompt="1"/>
          </p:nvPr>
        </p:nvSpPr>
        <p:spPr>
          <a:xfrm>
            <a:off x="652463" y="2667000"/>
            <a:ext cx="2927350" cy="358933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3883659" y="1981200"/>
            <a:ext cx="2936241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9" name="Espace réservé du texte 3"/>
          <p:cNvSpPr>
            <a:spLocks noGrp="1"/>
          </p:cNvSpPr>
          <p:nvPr>
            <p:ph type="body" sz="half" idx="16" hasCustomPrompt="1"/>
          </p:nvPr>
        </p:nvSpPr>
        <p:spPr>
          <a:xfrm>
            <a:off x="3873106" y="2667000"/>
            <a:ext cx="2946794" cy="358933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3" hasCustomPrompt="1"/>
          </p:nvPr>
        </p:nvSpPr>
        <p:spPr>
          <a:xfrm>
            <a:off x="7124700" y="1981200"/>
            <a:ext cx="29321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20" name="Espace réservé du texte 3"/>
          <p:cNvSpPr>
            <a:spLocks noGrp="1"/>
          </p:cNvSpPr>
          <p:nvPr>
            <p:ph type="body" sz="half" idx="17" hasCustomPrompt="1"/>
          </p:nvPr>
        </p:nvSpPr>
        <p:spPr>
          <a:xfrm>
            <a:off x="7124700" y="2667000"/>
            <a:ext cx="2932113" cy="358933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cxnSp>
        <p:nvCxnSpPr>
          <p:cNvPr id="17" name="Connecteur droit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127A5DE-2DD6-4418-A363-EF10D0B5FD9F}" type="datetime1">
              <a:rPr lang="fr-FR" noProof="0" smtClean="0"/>
              <a:t>03/07/2024</a:t>
            </a:fld>
            <a:endParaRPr lang="fr-FR" noProof="0"/>
          </a:p>
        </p:txBody>
      </p:sp>
      <p:sp>
        <p:nvSpPr>
          <p:cNvPr id="4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onne 3 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 sz="42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52463" y="4250949"/>
            <a:ext cx="2940050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29" name="Espace réservé d’image 2"/>
          <p:cNvSpPr>
            <a:spLocks noGrp="1" noChangeAspect="1"/>
          </p:cNvSpPr>
          <p:nvPr>
            <p:ph type="pic" idx="15" hasCustomPrompt="1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2" name="Espace réservé du texte 3"/>
          <p:cNvSpPr>
            <a:spLocks noGrp="1"/>
          </p:cNvSpPr>
          <p:nvPr>
            <p:ph type="body" sz="half" idx="18" hasCustomPrompt="1"/>
          </p:nvPr>
        </p:nvSpPr>
        <p:spPr>
          <a:xfrm>
            <a:off x="652463" y="4827211"/>
            <a:ext cx="2940050" cy="659189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3889375" y="4250949"/>
            <a:ext cx="2930525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30" name="Espace réservé d’image 2"/>
          <p:cNvSpPr>
            <a:spLocks noGrp="1" noChangeAspect="1"/>
          </p:cNvSpPr>
          <p:nvPr>
            <p:ph type="pic" idx="21" hasCustomPrompt="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3" name="Espace réservé du texte 3"/>
          <p:cNvSpPr>
            <a:spLocks noGrp="1"/>
          </p:cNvSpPr>
          <p:nvPr>
            <p:ph type="body" sz="half" idx="19" hasCustomPrompt="1"/>
          </p:nvPr>
        </p:nvSpPr>
        <p:spPr>
          <a:xfrm>
            <a:off x="3888022" y="4827210"/>
            <a:ext cx="2934406" cy="659189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3" hasCustomPrompt="1"/>
          </p:nvPr>
        </p:nvSpPr>
        <p:spPr>
          <a:xfrm>
            <a:off x="7124700" y="4250949"/>
            <a:ext cx="29321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31" name="Espace réservé d’image 2"/>
          <p:cNvSpPr>
            <a:spLocks noGrp="1" noChangeAspect="1"/>
          </p:cNvSpPr>
          <p:nvPr>
            <p:ph type="pic" idx="22" hasCustomPrompt="1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4" name="Espace réservé du texte 3"/>
          <p:cNvSpPr>
            <a:spLocks noGrp="1"/>
          </p:cNvSpPr>
          <p:nvPr>
            <p:ph type="body" sz="half" idx="20" hasCustomPrompt="1"/>
          </p:nvPr>
        </p:nvSpPr>
        <p:spPr>
          <a:xfrm>
            <a:off x="7124575" y="4827208"/>
            <a:ext cx="2935997" cy="659189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cxnSp>
        <p:nvCxnSpPr>
          <p:cNvPr id="19" name="Connecteur droit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BC65DA7-E5C5-4D74-B097-AC1BE004E448}" type="datetime1">
              <a:rPr lang="fr-FR" noProof="0" smtClean="0"/>
              <a:t>03/07/2024</a:t>
            </a:fld>
            <a:endParaRPr lang="fr-FR" noProof="0"/>
          </a:p>
        </p:txBody>
      </p:sp>
      <p:sp>
        <p:nvSpPr>
          <p:cNvPr id="4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 anchorCtr="0"/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1C7DA1A-EC3C-47F8-91A2-6837F02EFD3F}" type="datetime1">
              <a:rPr lang="fr-FR" noProof="0" smtClean="0"/>
              <a:t>03/07/2024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 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rtlCol="0" anchor="b" anchorCtr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 hasCustomPrompt="1"/>
          </p:nvPr>
        </p:nvSpPr>
        <p:spPr>
          <a:xfrm>
            <a:off x="652463" y="887414"/>
            <a:ext cx="7423149" cy="5368924"/>
          </a:xfrm>
        </p:spPr>
        <p:txBody>
          <a:bodyPr vert="eaVert" rtlCol="0"/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BC3F780-36C0-4115-8D68-C9FCA3157A4C}" type="datetime1">
              <a:rPr lang="fr-FR" noProof="0" smtClean="0"/>
              <a:t>03/07/2024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e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Imag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 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rtl="0"/>
            <a:fld id="{7E5CEDF6-0650-4886-A306-D0167EC655ED}" type="datetime1">
              <a:rPr lang="fr-FR" noProof="0" smtClean="0"/>
              <a:t>03/07/2024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10.png"/><Relationship Id="rId5" Type="http://schemas.openxmlformats.org/officeDocument/2006/relationships/image" Target="../media/image3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56" name="Oval 55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62" name="Rectangle 61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D27CF008-4B18-436D-B2D5-C1346C124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E22DAD8-5F67-4B73-ADA9-06EF381F7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68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C3C7936-D33A-A0C0-8FA8-201896D46725}"/>
              </a:ext>
            </a:extLst>
          </p:cNvPr>
          <p:cNvSpPr txBox="1"/>
          <p:nvPr/>
        </p:nvSpPr>
        <p:spPr>
          <a:xfrm>
            <a:off x="636916" y="4854346"/>
            <a:ext cx="9561241" cy="86802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600" cap="all" dirty="0">
                <a:solidFill>
                  <a:srgbClr val="EBEBEB"/>
                </a:solidFill>
                <a:ea typeface="+mn-lt"/>
                <a:cs typeface="+mn-lt"/>
              </a:rPr>
              <a:t>SEGMENTEZ DES CLIENTS D’UN SITE E-COMMERCE</a:t>
            </a:r>
            <a:endParaRPr lang="fr-FR" dirty="0" err="1">
              <a:ea typeface="+mj-ea"/>
              <a:cs typeface="+mj-cs"/>
            </a:endParaRPr>
          </a:p>
        </p:txBody>
      </p:sp>
      <p:pic>
        <p:nvPicPr>
          <p:cNvPr id="3" name="Image 2" descr="Une image contenant Graphique, Police, logo, graphisme&#10;&#10;Description générée automatiquement">
            <a:extLst>
              <a:ext uri="{FF2B5EF4-FFF2-40B4-BE49-F238E27FC236}">
                <a16:creationId xmlns:a16="http://schemas.microsoft.com/office/drawing/2014/main" id="{86B45D2D-9F46-DA8B-FF2D-401746C231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8934" y="-392314"/>
            <a:ext cx="8819223" cy="496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5130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0" name="Picture 10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21" name="Oval 12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22" name="Picture 14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3" name="Picture 16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2276DA9-CFA9-930E-E217-31BD69D6F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308" y="1142335"/>
            <a:ext cx="11760712" cy="3802889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ea typeface="+mj-lt"/>
                <a:cs typeface="+mj-lt"/>
              </a:rPr>
              <a:t>Urgence : </a:t>
            </a:r>
            <a:r>
              <a:rPr lang="en-US" sz="2400" dirty="0" err="1">
                <a:ea typeface="+mj-lt"/>
                <a:cs typeface="+mj-lt"/>
              </a:rPr>
              <a:t>Requêtes</a:t>
            </a:r>
            <a:r>
              <a:rPr lang="en-US" sz="2400" dirty="0">
                <a:ea typeface="+mj-lt"/>
                <a:cs typeface="+mj-lt"/>
              </a:rPr>
              <a:t> SQL</a:t>
            </a:r>
            <a:br>
              <a:rPr lang="en-US" sz="2400" dirty="0">
                <a:ea typeface="+mj-lt"/>
                <a:cs typeface="+mj-lt"/>
              </a:rPr>
            </a:br>
            <a:br>
              <a:rPr lang="en-US" sz="2400" dirty="0">
                <a:ea typeface="+mj-lt"/>
                <a:cs typeface="+mj-lt"/>
              </a:rPr>
            </a:br>
            <a:r>
              <a:rPr lang="en-US" sz="2400" dirty="0">
                <a:ea typeface="+mj-lt"/>
                <a:cs typeface="+mj-lt"/>
              </a:rPr>
              <a:t>Missions </a:t>
            </a:r>
            <a:r>
              <a:rPr lang="en-US" sz="2400" dirty="0" err="1">
                <a:ea typeface="+mj-lt"/>
                <a:cs typeface="+mj-lt"/>
              </a:rPr>
              <a:t>principales</a:t>
            </a:r>
            <a:r>
              <a:rPr lang="en-US" sz="2400" dirty="0">
                <a:ea typeface="+mj-lt"/>
                <a:cs typeface="+mj-lt"/>
              </a:rPr>
              <a:t> :</a:t>
            </a:r>
            <a:br>
              <a:rPr lang="en-US" sz="2400" dirty="0">
                <a:ea typeface="+mj-lt"/>
                <a:cs typeface="+mj-lt"/>
              </a:rPr>
            </a:br>
            <a:br>
              <a:rPr lang="en-US" sz="2400" dirty="0">
                <a:ea typeface="+mj-lt"/>
                <a:cs typeface="+mj-lt"/>
              </a:rPr>
            </a:br>
            <a:r>
              <a:rPr lang="en-US" sz="2400" dirty="0">
                <a:ea typeface="+mj-lt"/>
                <a:cs typeface="+mj-lt"/>
              </a:rPr>
              <a:t>- Segmentation des clients</a:t>
            </a:r>
            <a:br>
              <a:rPr lang="en-US" sz="2400" dirty="0">
                <a:ea typeface="+mj-lt"/>
                <a:cs typeface="+mj-lt"/>
              </a:rPr>
            </a:br>
            <a:r>
              <a:rPr lang="en-US" sz="2400" dirty="0">
                <a:ea typeface="+mj-lt"/>
                <a:cs typeface="+mj-lt"/>
              </a:rPr>
              <a:t>- </a:t>
            </a:r>
            <a:r>
              <a:rPr lang="en-US" sz="2400" dirty="0" err="1">
                <a:ea typeface="+mj-lt"/>
                <a:cs typeface="+mj-lt"/>
              </a:rPr>
              <a:t>Contrat</a:t>
            </a:r>
            <a:r>
              <a:rPr lang="en-US" sz="2400" dirty="0">
                <a:ea typeface="+mj-lt"/>
                <a:cs typeface="+mj-lt"/>
              </a:rPr>
              <a:t> de maintenance</a:t>
            </a:r>
            <a:endParaRPr lang="en-US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75B63B3-CDB6-DDCF-56DB-FFB30B51CAF9}"/>
              </a:ext>
            </a:extLst>
          </p:cNvPr>
          <p:cNvSpPr txBox="1"/>
          <p:nvPr/>
        </p:nvSpPr>
        <p:spPr>
          <a:xfrm>
            <a:off x="11127058" y="50181"/>
            <a:ext cx="118203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000" b="1" cap="all">
              <a:solidFill>
                <a:srgbClr val="EBEBEB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FD2B86C-5B51-B297-304F-4CC8081DD6EB}"/>
              </a:ext>
            </a:extLst>
          </p:cNvPr>
          <p:cNvSpPr txBox="1"/>
          <p:nvPr/>
        </p:nvSpPr>
        <p:spPr>
          <a:xfrm>
            <a:off x="216371" y="423333"/>
            <a:ext cx="431088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dirty="0"/>
              <a:t>RAPPEL DE LA PROBLEMATIQUE</a:t>
            </a:r>
          </a:p>
        </p:txBody>
      </p:sp>
      <p:pic>
        <p:nvPicPr>
          <p:cNvPr id="8" name="Image 7" descr="Une image contenant Bleu électrique, Police, logo, Graphique&#10;&#10;Description générée automatiquement">
            <a:extLst>
              <a:ext uri="{FF2B5EF4-FFF2-40B4-BE49-F238E27FC236}">
                <a16:creationId xmlns:a16="http://schemas.microsoft.com/office/drawing/2014/main" id="{B31D1009-2FBC-4777-4821-1E9CD47D75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23612" y="-7206"/>
            <a:ext cx="1068388" cy="1068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816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0" name="Picture 10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21" name="Oval 12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22" name="Picture 14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3" name="Picture 16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2276DA9-CFA9-930E-E217-31BD69D6F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308" y="1142335"/>
            <a:ext cx="11760712" cy="4497974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fr-FR" sz="2300" dirty="0"/>
              <a:t>Requête 1 – 322 résultats</a:t>
            </a:r>
            <a:br>
              <a:rPr lang="fr-FR" sz="2300" dirty="0"/>
            </a:br>
            <a:br>
              <a:rPr lang="fr-FR" sz="2300" dirty="0"/>
            </a:br>
            <a:r>
              <a:rPr lang="fr-FR" sz="2300" dirty="0"/>
              <a:t>	Requête 2						Requête 3							Requête 4</a:t>
            </a:r>
            <a:br>
              <a:rPr lang="fr-FR" sz="2300" dirty="0"/>
            </a:br>
            <a:br>
              <a:rPr lang="fr-FR" sz="2300" dirty="0"/>
            </a:br>
            <a:br>
              <a:rPr lang="fr-FR" sz="2300" dirty="0"/>
            </a:br>
            <a:br>
              <a:rPr lang="fr-FR" sz="2300" dirty="0"/>
            </a:br>
            <a:br>
              <a:rPr lang="fr-FR" sz="2300" dirty="0"/>
            </a:br>
            <a:br>
              <a:rPr lang="fr-FR" sz="2300" dirty="0"/>
            </a:br>
            <a:br>
              <a:rPr lang="fr-FR" sz="2300" dirty="0"/>
            </a:br>
            <a:br>
              <a:rPr lang="fr-FR" sz="2300" dirty="0"/>
            </a:br>
            <a:br>
              <a:rPr lang="fr-FR" sz="2300" dirty="0"/>
            </a:br>
            <a:br>
              <a:rPr lang="fr-FR" sz="2300" dirty="0"/>
            </a:br>
            <a:br>
              <a:rPr lang="fr-FR" sz="2300" dirty="0"/>
            </a:br>
            <a:endParaRPr lang="en-US" sz="23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75B63B3-CDB6-DDCF-56DB-FFB30B51CAF9}"/>
              </a:ext>
            </a:extLst>
          </p:cNvPr>
          <p:cNvSpPr txBox="1"/>
          <p:nvPr/>
        </p:nvSpPr>
        <p:spPr>
          <a:xfrm>
            <a:off x="11127058" y="50181"/>
            <a:ext cx="118203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000" b="1" cap="all">
              <a:solidFill>
                <a:srgbClr val="EBEBEB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FD2B86C-5B51-B297-304F-4CC8081DD6EB}"/>
              </a:ext>
            </a:extLst>
          </p:cNvPr>
          <p:cNvSpPr txBox="1"/>
          <p:nvPr/>
        </p:nvSpPr>
        <p:spPr>
          <a:xfrm>
            <a:off x="216371" y="423333"/>
            <a:ext cx="431088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dirty="0"/>
              <a:t>REQUÊTES SQL</a:t>
            </a:r>
          </a:p>
        </p:txBody>
      </p:sp>
      <p:pic>
        <p:nvPicPr>
          <p:cNvPr id="8" name="Image 7" descr="Une image contenant Bleu électrique, Police, logo, Graphique&#10;&#10;Description générée automatiquement">
            <a:extLst>
              <a:ext uri="{FF2B5EF4-FFF2-40B4-BE49-F238E27FC236}">
                <a16:creationId xmlns:a16="http://schemas.microsoft.com/office/drawing/2014/main" id="{B31D1009-2FBC-4777-4821-1E9CD47D75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23612" y="-7206"/>
            <a:ext cx="1068388" cy="1068388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99E2E89C-F073-6C91-B0D5-886EE532A1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9308" y="2235081"/>
            <a:ext cx="2940472" cy="452143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F714A531-92F3-0AC5-E9EE-7315600A983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89043" y="2230247"/>
            <a:ext cx="3865677" cy="132420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74624BE1-47F8-E93B-E4DD-3C748745566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9891" y="2230247"/>
            <a:ext cx="3903621" cy="1847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547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0" name="Picture 10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21" name="Oval 12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22" name="Picture 14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3" name="Picture 16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2276DA9-CFA9-930E-E217-31BD69D6F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308" y="1142335"/>
            <a:ext cx="11760712" cy="3802889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dirty="0" err="1"/>
              <a:t>Ajout</a:t>
            </a:r>
            <a:r>
              <a:rPr lang="en-US" sz="2400" dirty="0"/>
              <a:t> de </a:t>
            </a:r>
            <a:r>
              <a:rPr lang="en-US" sz="2400" dirty="0" err="1"/>
              <a:t>colonnes</a:t>
            </a:r>
            <a:r>
              <a:rPr lang="en-US" sz="2400" dirty="0"/>
              <a:t> à la table customers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vue</a:t>
            </a:r>
            <a:r>
              <a:rPr lang="en-US" sz="2400" dirty="0"/>
              <a:t> </a:t>
            </a:r>
            <a:r>
              <a:rPr lang="en-US" sz="2400" dirty="0" err="1"/>
              <a:t>d’une</a:t>
            </a:r>
            <a:r>
              <a:rPr lang="en-US" sz="2400" dirty="0"/>
              <a:t> segmentation RFM :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- Valeur de </a:t>
            </a:r>
            <a:r>
              <a:rPr lang="en-US" sz="2400" dirty="0" err="1"/>
              <a:t>paiement</a:t>
            </a:r>
            <a:br>
              <a:rPr lang="en-US" sz="2400" dirty="0"/>
            </a:br>
            <a:r>
              <a:rPr lang="en-US" sz="2400" dirty="0"/>
              <a:t>- Review score</a:t>
            </a:r>
            <a:br>
              <a:rPr lang="en-US" sz="2400" dirty="0"/>
            </a:br>
            <a:r>
              <a:rPr lang="en-US" sz="2400" dirty="0"/>
              <a:t>- Date de </a:t>
            </a:r>
            <a:r>
              <a:rPr lang="en-US" sz="2400" dirty="0" err="1"/>
              <a:t>commande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endParaRPr lang="en-US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75B63B3-CDB6-DDCF-56DB-FFB30B51CAF9}"/>
              </a:ext>
            </a:extLst>
          </p:cNvPr>
          <p:cNvSpPr txBox="1"/>
          <p:nvPr/>
        </p:nvSpPr>
        <p:spPr>
          <a:xfrm>
            <a:off x="11127058" y="50181"/>
            <a:ext cx="118203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000" b="1" cap="all">
              <a:solidFill>
                <a:srgbClr val="EBEBEB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FD2B86C-5B51-B297-304F-4CC8081DD6EB}"/>
              </a:ext>
            </a:extLst>
          </p:cNvPr>
          <p:cNvSpPr txBox="1"/>
          <p:nvPr/>
        </p:nvSpPr>
        <p:spPr>
          <a:xfrm>
            <a:off x="219308" y="423333"/>
            <a:ext cx="717986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dirty="0"/>
              <a:t>SEGMENTATION DES CLIENTS – PREPARATION DES DONNEES</a:t>
            </a:r>
          </a:p>
        </p:txBody>
      </p:sp>
      <p:pic>
        <p:nvPicPr>
          <p:cNvPr id="8" name="Image 7" descr="Une image contenant Bleu électrique, Police, logo, Graphique&#10;&#10;Description générée automatiquement">
            <a:extLst>
              <a:ext uri="{FF2B5EF4-FFF2-40B4-BE49-F238E27FC236}">
                <a16:creationId xmlns:a16="http://schemas.microsoft.com/office/drawing/2014/main" id="{B31D1009-2FBC-4777-4821-1E9CD47D75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23612" y="-7206"/>
            <a:ext cx="1068388" cy="1068388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CE4E121D-0527-CDE1-019A-4AC22A0A71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1980" y="3535524"/>
            <a:ext cx="1134848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791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276DA9-CFA9-930E-E217-31BD69D6F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307" y="1142335"/>
            <a:ext cx="4407013" cy="3802889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dirty="0" err="1"/>
              <a:t>Filtre</a:t>
            </a:r>
            <a:r>
              <a:rPr lang="en-US" sz="2400" dirty="0"/>
              <a:t> sur les dates de </a:t>
            </a:r>
            <a:r>
              <a:rPr lang="en-US" sz="2400" dirty="0" err="1"/>
              <a:t>commande</a:t>
            </a:r>
            <a:r>
              <a:rPr lang="en-US" sz="2400" dirty="0"/>
              <a:t> de 01-2017 à 08-2018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75B63B3-CDB6-DDCF-56DB-FFB30B51CAF9}"/>
              </a:ext>
            </a:extLst>
          </p:cNvPr>
          <p:cNvSpPr txBox="1"/>
          <p:nvPr/>
        </p:nvSpPr>
        <p:spPr>
          <a:xfrm>
            <a:off x="11127058" y="50181"/>
            <a:ext cx="118203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000" b="1" cap="all">
              <a:solidFill>
                <a:srgbClr val="EBEBEB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FD2B86C-5B51-B297-304F-4CC8081DD6EB}"/>
              </a:ext>
            </a:extLst>
          </p:cNvPr>
          <p:cNvSpPr txBox="1"/>
          <p:nvPr/>
        </p:nvSpPr>
        <p:spPr>
          <a:xfrm>
            <a:off x="219307" y="423333"/>
            <a:ext cx="729183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dirty="0"/>
              <a:t>SEGMENTATION DES CLIENTS – NETTOYAGE DES DONNEES</a:t>
            </a:r>
          </a:p>
        </p:txBody>
      </p:sp>
      <p:pic>
        <p:nvPicPr>
          <p:cNvPr id="8" name="Image 7" descr="Une image contenant Bleu électrique, Police, logo, Graphique&#10;&#10;Description générée automatiquement">
            <a:extLst>
              <a:ext uri="{FF2B5EF4-FFF2-40B4-BE49-F238E27FC236}">
                <a16:creationId xmlns:a16="http://schemas.microsoft.com/office/drawing/2014/main" id="{B31D1009-2FBC-4777-4821-1E9CD47D7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3612" y="-7206"/>
            <a:ext cx="1068388" cy="1068388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88400A2A-6C06-8E40-B99D-10D54CB6F4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9337" y="1527113"/>
            <a:ext cx="5810250" cy="478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504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276DA9-CFA9-930E-E217-31BD69D6F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308" y="1142335"/>
            <a:ext cx="11760712" cy="3802889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dirty="0" err="1"/>
              <a:t>Création</a:t>
            </a:r>
            <a:r>
              <a:rPr lang="en-US" sz="2400" dirty="0"/>
              <a:t> </a:t>
            </a:r>
            <a:r>
              <a:rPr lang="en-US" sz="2400" dirty="0" err="1"/>
              <a:t>d’une</a:t>
            </a:r>
            <a:r>
              <a:rPr lang="en-US" sz="2400" dirty="0"/>
              <a:t> </a:t>
            </a:r>
            <a:r>
              <a:rPr lang="en-US" sz="2400" dirty="0" err="1"/>
              <a:t>ligne</a:t>
            </a:r>
            <a:r>
              <a:rPr lang="en-US" sz="2400" dirty="0"/>
              <a:t> par client et </a:t>
            </a:r>
            <a:r>
              <a:rPr lang="en-US" sz="2400" dirty="0" err="1"/>
              <a:t>création</a:t>
            </a:r>
            <a:r>
              <a:rPr lang="en-US" sz="2400" dirty="0"/>
              <a:t> de </a:t>
            </a:r>
            <a:r>
              <a:rPr lang="en-US" sz="2400" dirty="0" err="1"/>
              <a:t>nouvelles</a:t>
            </a:r>
            <a:r>
              <a:rPr lang="en-US" sz="2400" dirty="0"/>
              <a:t> features :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endParaRPr lang="en-US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75B63B3-CDB6-DDCF-56DB-FFB30B51CAF9}"/>
              </a:ext>
            </a:extLst>
          </p:cNvPr>
          <p:cNvSpPr txBox="1"/>
          <p:nvPr/>
        </p:nvSpPr>
        <p:spPr>
          <a:xfrm>
            <a:off x="11127058" y="50181"/>
            <a:ext cx="118203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000" b="1" cap="all">
              <a:solidFill>
                <a:srgbClr val="EBEBEB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FD2B86C-5B51-B297-304F-4CC8081DD6EB}"/>
              </a:ext>
            </a:extLst>
          </p:cNvPr>
          <p:cNvSpPr txBox="1"/>
          <p:nvPr/>
        </p:nvSpPr>
        <p:spPr>
          <a:xfrm>
            <a:off x="219308" y="423333"/>
            <a:ext cx="633078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dirty="0"/>
              <a:t>SEGMENTATION DES CLIENTS – FEATURE ENGINEERING</a:t>
            </a:r>
          </a:p>
        </p:txBody>
      </p:sp>
      <p:pic>
        <p:nvPicPr>
          <p:cNvPr id="8" name="Image 7" descr="Une image contenant Bleu électrique, Police, logo, Graphique&#10;&#10;Description générée automatiquement">
            <a:extLst>
              <a:ext uri="{FF2B5EF4-FFF2-40B4-BE49-F238E27FC236}">
                <a16:creationId xmlns:a16="http://schemas.microsoft.com/office/drawing/2014/main" id="{B31D1009-2FBC-4777-4821-1E9CD47D7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3612" y="-7206"/>
            <a:ext cx="1068388" cy="1068388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B2C8BD2-73B5-A032-FE31-76358F3C52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265" y="2652280"/>
            <a:ext cx="9707330" cy="340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639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276DA9-CFA9-930E-E217-31BD69D6F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308" y="1142335"/>
            <a:ext cx="11760712" cy="3802889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97% des clients </a:t>
            </a:r>
            <a:r>
              <a:rPr lang="en-US" sz="2400" dirty="0" err="1"/>
              <a:t>n’ont</a:t>
            </a:r>
            <a:r>
              <a:rPr lang="en-US" sz="2400" dirty="0"/>
              <a:t> passé						77% des review score </a:t>
            </a:r>
            <a:r>
              <a:rPr lang="en-US" sz="2400" dirty="0" err="1"/>
              <a:t>moyens</a:t>
            </a:r>
            <a:r>
              <a:rPr lang="en-US" sz="2400" dirty="0"/>
              <a:t> </a:t>
            </a:r>
            <a:r>
              <a:rPr lang="en-US" sz="2400" dirty="0" err="1"/>
              <a:t>sont</a:t>
            </a:r>
            <a:br>
              <a:rPr lang="en-US" sz="2400" dirty="0"/>
            </a:br>
            <a:r>
              <a:rPr lang="en-US" sz="2400" dirty="0" err="1"/>
              <a:t>qu’une</a:t>
            </a:r>
            <a:r>
              <a:rPr lang="en-US" sz="2400" dirty="0"/>
              <a:t> </a:t>
            </a:r>
            <a:r>
              <a:rPr lang="en-US" sz="2400" dirty="0" err="1"/>
              <a:t>seule</a:t>
            </a:r>
            <a:r>
              <a:rPr lang="en-US" sz="2400" dirty="0"/>
              <a:t> </a:t>
            </a:r>
            <a:r>
              <a:rPr lang="en-US" sz="2400" dirty="0" err="1"/>
              <a:t>commande</a:t>
            </a:r>
            <a:r>
              <a:rPr lang="en-US" sz="2400" dirty="0"/>
              <a:t>						</a:t>
            </a:r>
            <a:r>
              <a:rPr lang="en-US" sz="2400" dirty="0" err="1"/>
              <a:t>supérieurs</a:t>
            </a:r>
            <a:r>
              <a:rPr lang="en-US" sz="2400" dirty="0"/>
              <a:t> </a:t>
            </a:r>
            <a:r>
              <a:rPr lang="en-US" sz="2400" dirty="0" err="1"/>
              <a:t>ou</a:t>
            </a:r>
            <a:r>
              <a:rPr lang="en-US" sz="2400" dirty="0"/>
              <a:t> </a:t>
            </a:r>
            <a:r>
              <a:rPr lang="en-US" sz="2400" dirty="0" err="1"/>
              <a:t>égaux</a:t>
            </a:r>
            <a:r>
              <a:rPr lang="en-US" sz="2400" dirty="0"/>
              <a:t> à 4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endParaRPr lang="en-US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75B63B3-CDB6-DDCF-56DB-FFB30B51CAF9}"/>
              </a:ext>
            </a:extLst>
          </p:cNvPr>
          <p:cNvSpPr txBox="1"/>
          <p:nvPr/>
        </p:nvSpPr>
        <p:spPr>
          <a:xfrm>
            <a:off x="11127058" y="50181"/>
            <a:ext cx="118203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000" b="1" cap="all">
              <a:solidFill>
                <a:srgbClr val="EBEBEB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FD2B86C-5B51-B297-304F-4CC8081DD6EB}"/>
              </a:ext>
            </a:extLst>
          </p:cNvPr>
          <p:cNvSpPr txBox="1"/>
          <p:nvPr/>
        </p:nvSpPr>
        <p:spPr>
          <a:xfrm>
            <a:off x="219307" y="423333"/>
            <a:ext cx="686262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dirty="0"/>
              <a:t>SEGMENTATION DES CLIENTS – ANALYSE EXPLORATOIRE</a:t>
            </a:r>
          </a:p>
        </p:txBody>
      </p:sp>
      <p:pic>
        <p:nvPicPr>
          <p:cNvPr id="8" name="Image 7" descr="Une image contenant Bleu électrique, Police, logo, Graphique&#10;&#10;Description générée automatiquement">
            <a:extLst>
              <a:ext uri="{FF2B5EF4-FFF2-40B4-BE49-F238E27FC236}">
                <a16:creationId xmlns:a16="http://schemas.microsoft.com/office/drawing/2014/main" id="{B31D1009-2FBC-4777-4821-1E9CD47D7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3612" y="-7206"/>
            <a:ext cx="1068388" cy="1068388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2F796A69-92A4-BDA7-BCEF-EF7EBBBDC6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287" y="2942376"/>
            <a:ext cx="5062509" cy="360035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CB7E04AF-0240-C02E-ED1E-F9DE7795C4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5297" y="2942375"/>
            <a:ext cx="4894600" cy="3592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238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276DA9-CFA9-930E-E217-31BD69D6F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308" y="1142335"/>
            <a:ext cx="11760712" cy="3802889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Beaucoup plus de </a:t>
            </a:r>
            <a:r>
              <a:rPr lang="en-US" sz="2400" dirty="0" err="1"/>
              <a:t>valeurs</a:t>
            </a:r>
            <a:r>
              <a:rPr lang="en-US" sz="2400" dirty="0"/>
              <a:t> dans les 300 </a:t>
            </a:r>
            <a:r>
              <a:rPr lang="en-US" sz="2400" dirty="0" err="1"/>
              <a:t>derniers</a:t>
            </a:r>
            <a:r>
              <a:rPr lang="en-US" sz="2400" dirty="0"/>
              <a:t> </a:t>
            </a:r>
            <a:r>
              <a:rPr lang="en-US" sz="2400" dirty="0" err="1"/>
              <a:t>jours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endParaRPr lang="en-US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75B63B3-CDB6-DDCF-56DB-FFB30B51CAF9}"/>
              </a:ext>
            </a:extLst>
          </p:cNvPr>
          <p:cNvSpPr txBox="1"/>
          <p:nvPr/>
        </p:nvSpPr>
        <p:spPr>
          <a:xfrm>
            <a:off x="11127058" y="50181"/>
            <a:ext cx="118203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000" b="1" cap="all">
              <a:solidFill>
                <a:srgbClr val="EBEBEB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FD2B86C-5B51-B297-304F-4CC8081DD6EB}"/>
              </a:ext>
            </a:extLst>
          </p:cNvPr>
          <p:cNvSpPr txBox="1"/>
          <p:nvPr/>
        </p:nvSpPr>
        <p:spPr>
          <a:xfrm>
            <a:off x="219307" y="423333"/>
            <a:ext cx="686262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dirty="0"/>
              <a:t>SEGMENTATION DES CLIENTS – ANALYSE EXPLORATOIRE</a:t>
            </a:r>
          </a:p>
        </p:txBody>
      </p:sp>
      <p:pic>
        <p:nvPicPr>
          <p:cNvPr id="8" name="Image 7" descr="Une image contenant Bleu électrique, Police, logo, Graphique&#10;&#10;Description générée automatiquement">
            <a:extLst>
              <a:ext uri="{FF2B5EF4-FFF2-40B4-BE49-F238E27FC236}">
                <a16:creationId xmlns:a16="http://schemas.microsoft.com/office/drawing/2014/main" id="{B31D1009-2FBC-4777-4821-1E9CD47D7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3612" y="-7206"/>
            <a:ext cx="1068388" cy="1068388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22F77680-4186-D0A5-E4EE-588582A906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577" y="2193348"/>
            <a:ext cx="7296150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173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276DA9-CFA9-930E-E217-31BD69D6F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308" y="1142335"/>
            <a:ext cx="11760712" cy="3802889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dirty="0" err="1"/>
              <a:t>Manifestement</a:t>
            </a:r>
            <a:r>
              <a:rPr lang="en-US" sz="2400" dirty="0"/>
              <a:t> pas de </a:t>
            </a:r>
            <a:r>
              <a:rPr lang="en-US" sz="2400" dirty="0" err="1"/>
              <a:t>corrélation</a:t>
            </a:r>
            <a:r>
              <a:rPr lang="en-US" sz="2400" dirty="0"/>
              <a:t> entre </a:t>
            </a:r>
            <a:r>
              <a:rPr lang="en-US" sz="2400" dirty="0" err="1"/>
              <a:t>nos</a:t>
            </a:r>
            <a:r>
              <a:rPr lang="en-US" sz="2400" dirty="0"/>
              <a:t> variables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endParaRPr lang="en-US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75B63B3-CDB6-DDCF-56DB-FFB30B51CAF9}"/>
              </a:ext>
            </a:extLst>
          </p:cNvPr>
          <p:cNvSpPr txBox="1"/>
          <p:nvPr/>
        </p:nvSpPr>
        <p:spPr>
          <a:xfrm>
            <a:off x="11127058" y="50181"/>
            <a:ext cx="118203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000" b="1" cap="all">
              <a:solidFill>
                <a:srgbClr val="EBEBEB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FD2B86C-5B51-B297-304F-4CC8081DD6EB}"/>
              </a:ext>
            </a:extLst>
          </p:cNvPr>
          <p:cNvSpPr txBox="1"/>
          <p:nvPr/>
        </p:nvSpPr>
        <p:spPr>
          <a:xfrm>
            <a:off x="219307" y="423333"/>
            <a:ext cx="686262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dirty="0"/>
              <a:t>SEGMENTATION DES CLIENTS – ANALYSE EXPLORATOIRE</a:t>
            </a:r>
          </a:p>
        </p:txBody>
      </p:sp>
      <p:pic>
        <p:nvPicPr>
          <p:cNvPr id="8" name="Image 7" descr="Une image contenant Bleu électrique, Police, logo, Graphique&#10;&#10;Description générée automatiquement">
            <a:extLst>
              <a:ext uri="{FF2B5EF4-FFF2-40B4-BE49-F238E27FC236}">
                <a16:creationId xmlns:a16="http://schemas.microsoft.com/office/drawing/2014/main" id="{B31D1009-2FBC-4777-4821-1E9CD47D7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3612" y="-7206"/>
            <a:ext cx="1068388" cy="1068388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B83E08B-1BF7-A994-653C-8BBA50B23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496" y="2109458"/>
            <a:ext cx="5359032" cy="4469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006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276DA9-CFA9-930E-E217-31BD69D6F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308" y="1142335"/>
            <a:ext cx="11760712" cy="5435747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La </a:t>
            </a:r>
            <a:r>
              <a:rPr lang="en-US" sz="2400" dirty="0" err="1"/>
              <a:t>méthode</a:t>
            </a:r>
            <a:r>
              <a:rPr lang="en-US" sz="2400" dirty="0"/>
              <a:t> du </a:t>
            </a:r>
            <a:r>
              <a:rPr lang="en-US" sz="2400" dirty="0" err="1"/>
              <a:t>coude</a:t>
            </a:r>
            <a:r>
              <a:rPr lang="en-US" sz="2400" dirty="0"/>
              <a:t> </a:t>
            </a:r>
            <a:r>
              <a:rPr lang="en-US" sz="2400" dirty="0" err="1"/>
              <a:t>suggère</a:t>
            </a:r>
            <a:r>
              <a:rPr lang="en-US" sz="2400" dirty="0"/>
              <a:t> de conserver 5 clusters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			Peu </a:t>
            </a:r>
            <a:r>
              <a:rPr lang="en-US" sz="2400" dirty="0" err="1"/>
              <a:t>d’individus</a:t>
            </a:r>
            <a:r>
              <a:rPr lang="en-US" sz="2400" dirty="0"/>
              <a:t> dans les clusters 3 et 4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75B63B3-CDB6-DDCF-56DB-FFB30B51CAF9}"/>
              </a:ext>
            </a:extLst>
          </p:cNvPr>
          <p:cNvSpPr txBox="1"/>
          <p:nvPr/>
        </p:nvSpPr>
        <p:spPr>
          <a:xfrm>
            <a:off x="11127058" y="50181"/>
            <a:ext cx="118203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000" b="1" cap="all">
              <a:solidFill>
                <a:srgbClr val="EBEBEB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FD2B86C-5B51-B297-304F-4CC8081DD6EB}"/>
              </a:ext>
            </a:extLst>
          </p:cNvPr>
          <p:cNvSpPr txBox="1"/>
          <p:nvPr/>
        </p:nvSpPr>
        <p:spPr>
          <a:xfrm>
            <a:off x="219307" y="423333"/>
            <a:ext cx="686262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dirty="0"/>
              <a:t>SEGMENTATION DES CLIENTS – k-</a:t>
            </a:r>
            <a:r>
              <a:rPr lang="fr-FR" dirty="0" err="1"/>
              <a:t>Means</a:t>
            </a:r>
            <a:endParaRPr lang="fr-FR" dirty="0"/>
          </a:p>
        </p:txBody>
      </p:sp>
      <p:pic>
        <p:nvPicPr>
          <p:cNvPr id="8" name="Image 7" descr="Une image contenant Bleu électrique, Police, logo, Graphique&#10;&#10;Description générée automatiquement">
            <a:extLst>
              <a:ext uri="{FF2B5EF4-FFF2-40B4-BE49-F238E27FC236}">
                <a16:creationId xmlns:a16="http://schemas.microsoft.com/office/drawing/2014/main" id="{B31D1009-2FBC-4777-4821-1E9CD47D7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3612" y="-7206"/>
            <a:ext cx="1068388" cy="1068388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7225F52D-2522-FAD3-367C-BAAFD8E307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785" y="2141667"/>
            <a:ext cx="5505652" cy="2803557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EFDC8D6-8E3F-7C6F-78FB-457D39E842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695" y="5415870"/>
            <a:ext cx="885949" cy="116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796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276DA9-CFA9-930E-E217-31BD69D6F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308" y="1142335"/>
            <a:ext cx="11760712" cy="5435747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	</a:t>
            </a:r>
            <a:r>
              <a:rPr lang="en-US" sz="2400" dirty="0" err="1"/>
              <a:t>Nombre</a:t>
            </a:r>
            <a:r>
              <a:rPr lang="en-US" sz="2400" dirty="0"/>
              <a:t> de </a:t>
            </a:r>
            <a:r>
              <a:rPr lang="en-US" sz="2400" dirty="0" err="1"/>
              <a:t>commandes</a:t>
            </a:r>
            <a:r>
              <a:rPr lang="en-US" sz="2400" dirty="0"/>
              <a:t>							Panier </a:t>
            </a:r>
            <a:r>
              <a:rPr lang="en-US" sz="2400" dirty="0" err="1"/>
              <a:t>moyen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			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75B63B3-CDB6-DDCF-56DB-FFB30B51CAF9}"/>
              </a:ext>
            </a:extLst>
          </p:cNvPr>
          <p:cNvSpPr txBox="1"/>
          <p:nvPr/>
        </p:nvSpPr>
        <p:spPr>
          <a:xfrm>
            <a:off x="11127058" y="50181"/>
            <a:ext cx="118203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000" b="1" cap="all">
              <a:solidFill>
                <a:srgbClr val="EBEBEB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FD2B86C-5B51-B297-304F-4CC8081DD6EB}"/>
              </a:ext>
            </a:extLst>
          </p:cNvPr>
          <p:cNvSpPr txBox="1"/>
          <p:nvPr/>
        </p:nvSpPr>
        <p:spPr>
          <a:xfrm>
            <a:off x="219307" y="423333"/>
            <a:ext cx="686262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dirty="0"/>
              <a:t>SEGMENTATION DES CLIENTS – k-</a:t>
            </a:r>
            <a:r>
              <a:rPr lang="fr-FR" dirty="0" err="1"/>
              <a:t>Means</a:t>
            </a:r>
            <a:endParaRPr lang="fr-FR" dirty="0"/>
          </a:p>
        </p:txBody>
      </p:sp>
      <p:pic>
        <p:nvPicPr>
          <p:cNvPr id="8" name="Image 7" descr="Une image contenant Bleu électrique, Police, logo, Graphique&#10;&#10;Description générée automatiquement">
            <a:extLst>
              <a:ext uri="{FF2B5EF4-FFF2-40B4-BE49-F238E27FC236}">
                <a16:creationId xmlns:a16="http://schemas.microsoft.com/office/drawing/2014/main" id="{B31D1009-2FBC-4777-4821-1E9CD47D7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3612" y="-7206"/>
            <a:ext cx="1068388" cy="1068388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A3056288-F588-A327-487B-468BCF1AB3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07" y="2074485"/>
            <a:ext cx="4690362" cy="3744825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E0CD08EA-2B77-2C56-8D71-293C061511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3306" y="2074485"/>
            <a:ext cx="5524500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272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276DA9-CFA9-930E-E217-31BD69D6F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308" y="1142335"/>
            <a:ext cx="11760712" cy="5435747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		Review score </a:t>
            </a:r>
            <a:r>
              <a:rPr lang="en-US" sz="2400" dirty="0" err="1"/>
              <a:t>moyen</a:t>
            </a:r>
            <a:r>
              <a:rPr lang="en-US" sz="2400" dirty="0"/>
              <a:t>					</a:t>
            </a:r>
            <a:r>
              <a:rPr lang="en-US" sz="2400" dirty="0" err="1"/>
              <a:t>Jours</a:t>
            </a:r>
            <a:r>
              <a:rPr lang="en-US" sz="2400" dirty="0"/>
              <a:t> </a:t>
            </a:r>
            <a:r>
              <a:rPr lang="en-US" sz="2400" dirty="0" err="1"/>
              <a:t>depuis</a:t>
            </a:r>
            <a:r>
              <a:rPr lang="en-US" sz="2400" dirty="0"/>
              <a:t> la </a:t>
            </a:r>
            <a:r>
              <a:rPr lang="en-US" sz="2400" dirty="0" err="1"/>
              <a:t>dernière</a:t>
            </a:r>
            <a:r>
              <a:rPr lang="en-US" sz="2400" dirty="0"/>
              <a:t> </a:t>
            </a:r>
            <a:r>
              <a:rPr lang="en-US" sz="2400" dirty="0" err="1"/>
              <a:t>commande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			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75B63B3-CDB6-DDCF-56DB-FFB30B51CAF9}"/>
              </a:ext>
            </a:extLst>
          </p:cNvPr>
          <p:cNvSpPr txBox="1"/>
          <p:nvPr/>
        </p:nvSpPr>
        <p:spPr>
          <a:xfrm>
            <a:off x="11127058" y="50181"/>
            <a:ext cx="118203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000" b="1" cap="all">
              <a:solidFill>
                <a:srgbClr val="EBEBEB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FD2B86C-5B51-B297-304F-4CC8081DD6EB}"/>
              </a:ext>
            </a:extLst>
          </p:cNvPr>
          <p:cNvSpPr txBox="1"/>
          <p:nvPr/>
        </p:nvSpPr>
        <p:spPr>
          <a:xfrm>
            <a:off x="219307" y="423333"/>
            <a:ext cx="686262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dirty="0"/>
              <a:t>SEGMENTATION DES CLIENTS – k-</a:t>
            </a:r>
            <a:r>
              <a:rPr lang="fr-FR" dirty="0" err="1"/>
              <a:t>Means</a:t>
            </a:r>
            <a:endParaRPr lang="fr-FR" dirty="0"/>
          </a:p>
        </p:txBody>
      </p:sp>
      <p:pic>
        <p:nvPicPr>
          <p:cNvPr id="8" name="Image 7" descr="Une image contenant Bleu électrique, Police, logo, Graphique&#10;&#10;Description générée automatiquement">
            <a:extLst>
              <a:ext uri="{FF2B5EF4-FFF2-40B4-BE49-F238E27FC236}">
                <a16:creationId xmlns:a16="http://schemas.microsoft.com/office/drawing/2014/main" id="{B31D1009-2FBC-4777-4821-1E9CD47D7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3612" y="-7206"/>
            <a:ext cx="1068388" cy="1068388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76F458AE-5140-81EA-9836-1C322D6078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307" y="2198775"/>
            <a:ext cx="5276850" cy="412432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45FA2D5A-F7D1-0772-66DB-E2A87F28E9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6781" y="2198775"/>
            <a:ext cx="5438775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222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276DA9-CFA9-930E-E217-31BD69D6F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308" y="1142335"/>
            <a:ext cx="11760712" cy="5435747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Jeu de données trop </a:t>
            </a:r>
            <a:r>
              <a:rPr lang="en-US" sz="2400" dirty="0" err="1"/>
              <a:t>volumineux</a:t>
            </a:r>
            <a:r>
              <a:rPr lang="en-US" sz="2400" dirty="0"/>
              <a:t> (</a:t>
            </a:r>
            <a:r>
              <a:rPr lang="en-US" sz="2400" dirty="0" err="1"/>
              <a:t>problème</a:t>
            </a:r>
            <a:r>
              <a:rPr lang="en-US" sz="2400" dirty="0"/>
              <a:t> de </a:t>
            </a:r>
            <a:r>
              <a:rPr lang="en-US" sz="2400" dirty="0" err="1"/>
              <a:t>mémoire</a:t>
            </a:r>
            <a:r>
              <a:rPr lang="en-US" sz="2400" dirty="0"/>
              <a:t>), il a </a:t>
            </a:r>
            <a:r>
              <a:rPr lang="en-US" sz="2400" dirty="0" err="1"/>
              <a:t>fallu</a:t>
            </a:r>
            <a:r>
              <a:rPr lang="en-US" sz="2400" dirty="0"/>
              <a:t> partitioner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			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75B63B3-CDB6-DDCF-56DB-FFB30B51CAF9}"/>
              </a:ext>
            </a:extLst>
          </p:cNvPr>
          <p:cNvSpPr txBox="1"/>
          <p:nvPr/>
        </p:nvSpPr>
        <p:spPr>
          <a:xfrm>
            <a:off x="11127058" y="50181"/>
            <a:ext cx="118203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000" b="1" cap="all">
              <a:solidFill>
                <a:srgbClr val="EBEBEB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FD2B86C-5B51-B297-304F-4CC8081DD6EB}"/>
              </a:ext>
            </a:extLst>
          </p:cNvPr>
          <p:cNvSpPr txBox="1"/>
          <p:nvPr/>
        </p:nvSpPr>
        <p:spPr>
          <a:xfrm>
            <a:off x="219307" y="423333"/>
            <a:ext cx="686262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dirty="0"/>
              <a:t>SEGMENTATION DES CLIENTS – CAH</a:t>
            </a:r>
          </a:p>
        </p:txBody>
      </p:sp>
      <p:pic>
        <p:nvPicPr>
          <p:cNvPr id="8" name="Image 7" descr="Une image contenant Bleu électrique, Police, logo, Graphique&#10;&#10;Description générée automatiquement">
            <a:extLst>
              <a:ext uri="{FF2B5EF4-FFF2-40B4-BE49-F238E27FC236}">
                <a16:creationId xmlns:a16="http://schemas.microsoft.com/office/drawing/2014/main" id="{B31D1009-2FBC-4777-4821-1E9CD47D7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3612" y="-7206"/>
            <a:ext cx="1068388" cy="1068388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B09B54C4-2477-C261-C6BA-70A649DAF1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716" y="2053707"/>
            <a:ext cx="8096250" cy="452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725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276DA9-CFA9-930E-E217-31BD69D6F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308" y="1142335"/>
            <a:ext cx="11760712" cy="5435747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dirty="0" err="1"/>
              <a:t>Méthode</a:t>
            </a:r>
            <a:r>
              <a:rPr lang="en-US" sz="2400" dirty="0"/>
              <a:t> du </a:t>
            </a:r>
            <a:r>
              <a:rPr lang="en-US" sz="2400" dirty="0" err="1"/>
              <a:t>coude</a:t>
            </a:r>
            <a:r>
              <a:rPr lang="en-US" sz="2400" dirty="0"/>
              <a:t> pour </a:t>
            </a:r>
            <a:r>
              <a:rPr lang="en-US" sz="2400" dirty="0" err="1"/>
              <a:t>déterminer</a:t>
            </a:r>
            <a:r>
              <a:rPr lang="en-US" sz="2400" dirty="0"/>
              <a:t> la							 17 clusters avec</a:t>
            </a:r>
            <a:br>
              <a:rPr lang="en-US" sz="2400" dirty="0"/>
            </a:br>
            <a:r>
              <a:rPr lang="en-US" sz="2400" dirty="0" err="1"/>
              <a:t>meilleure</a:t>
            </a:r>
            <a:r>
              <a:rPr lang="en-US" sz="2400" dirty="0"/>
              <a:t> </a:t>
            </a:r>
            <a:r>
              <a:rPr lang="en-US" sz="2400" dirty="0" err="1"/>
              <a:t>valeur</a:t>
            </a:r>
            <a:r>
              <a:rPr lang="en-US" sz="2400" dirty="0"/>
              <a:t> </a:t>
            </a:r>
            <a:r>
              <a:rPr lang="en-US" sz="2400" dirty="0" err="1"/>
              <a:t>d’eps</a:t>
            </a:r>
            <a:r>
              <a:rPr lang="en-US" sz="2400" dirty="0"/>
              <a:t>												 eps = 0,7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			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75B63B3-CDB6-DDCF-56DB-FFB30B51CAF9}"/>
              </a:ext>
            </a:extLst>
          </p:cNvPr>
          <p:cNvSpPr txBox="1"/>
          <p:nvPr/>
        </p:nvSpPr>
        <p:spPr>
          <a:xfrm>
            <a:off x="11127058" y="50181"/>
            <a:ext cx="118203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000" b="1" cap="all">
              <a:solidFill>
                <a:srgbClr val="EBEBEB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FD2B86C-5B51-B297-304F-4CC8081DD6EB}"/>
              </a:ext>
            </a:extLst>
          </p:cNvPr>
          <p:cNvSpPr txBox="1"/>
          <p:nvPr/>
        </p:nvSpPr>
        <p:spPr>
          <a:xfrm>
            <a:off x="219307" y="423333"/>
            <a:ext cx="686262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dirty="0"/>
              <a:t>SEGMENTATION DES CLIENTS – DBSCAN</a:t>
            </a:r>
          </a:p>
        </p:txBody>
      </p:sp>
      <p:pic>
        <p:nvPicPr>
          <p:cNvPr id="8" name="Image 7" descr="Une image contenant Bleu électrique, Police, logo, Graphique&#10;&#10;Description générée automatiquement">
            <a:extLst>
              <a:ext uri="{FF2B5EF4-FFF2-40B4-BE49-F238E27FC236}">
                <a16:creationId xmlns:a16="http://schemas.microsoft.com/office/drawing/2014/main" id="{B31D1009-2FBC-4777-4821-1E9CD47D7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3612" y="-7206"/>
            <a:ext cx="1068388" cy="1068388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CD2580D-2D8A-F0A0-6786-C8FBBA8778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560" y="2596632"/>
            <a:ext cx="5543550" cy="398145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6B7A9DCC-F5BF-4FB1-CABB-98F55DFA2D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4157" y="2501864"/>
            <a:ext cx="1066949" cy="33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104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276DA9-CFA9-930E-E217-31BD69D6F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308" y="1142335"/>
            <a:ext cx="11760712" cy="5435747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Pour </a:t>
            </a:r>
            <a:r>
              <a:rPr lang="en-US" sz="2400" dirty="0" err="1"/>
              <a:t>déterminer</a:t>
            </a:r>
            <a:r>
              <a:rPr lang="en-US" sz="2400" dirty="0"/>
              <a:t> </a:t>
            </a:r>
            <a:r>
              <a:rPr lang="en-US" sz="2400" dirty="0" err="1"/>
              <a:t>quelles</a:t>
            </a:r>
            <a:r>
              <a:rPr lang="en-US" sz="2400" dirty="0"/>
              <a:t> variables </a:t>
            </a:r>
            <a:r>
              <a:rPr lang="en-US" sz="2400" dirty="0" err="1"/>
              <a:t>contribuent</a:t>
            </a:r>
            <a:r>
              <a:rPr lang="en-US" sz="2400" dirty="0"/>
              <a:t> à </a:t>
            </a:r>
            <a:r>
              <a:rPr lang="en-US" sz="2400" dirty="0" err="1"/>
              <a:t>chaque</a:t>
            </a:r>
            <a:r>
              <a:rPr lang="en-US" sz="2400" dirty="0"/>
              <a:t> </a:t>
            </a:r>
            <a:r>
              <a:rPr lang="en-US" sz="2400" dirty="0" err="1"/>
              <a:t>composante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			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75B63B3-CDB6-DDCF-56DB-FFB30B51CAF9}"/>
              </a:ext>
            </a:extLst>
          </p:cNvPr>
          <p:cNvSpPr txBox="1"/>
          <p:nvPr/>
        </p:nvSpPr>
        <p:spPr>
          <a:xfrm>
            <a:off x="11127058" y="50181"/>
            <a:ext cx="118203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000" b="1" cap="all">
              <a:solidFill>
                <a:srgbClr val="EBEBEB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FD2B86C-5B51-B297-304F-4CC8081DD6EB}"/>
              </a:ext>
            </a:extLst>
          </p:cNvPr>
          <p:cNvSpPr txBox="1"/>
          <p:nvPr/>
        </p:nvSpPr>
        <p:spPr>
          <a:xfrm>
            <a:off x="219307" y="423333"/>
            <a:ext cx="686262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dirty="0"/>
              <a:t>SEGMENTATION DES CLIENTS – ACP</a:t>
            </a:r>
          </a:p>
        </p:txBody>
      </p:sp>
      <p:pic>
        <p:nvPicPr>
          <p:cNvPr id="8" name="Image 7" descr="Une image contenant Bleu électrique, Police, logo, Graphique&#10;&#10;Description générée automatiquement">
            <a:extLst>
              <a:ext uri="{FF2B5EF4-FFF2-40B4-BE49-F238E27FC236}">
                <a16:creationId xmlns:a16="http://schemas.microsoft.com/office/drawing/2014/main" id="{B31D1009-2FBC-4777-4821-1E9CD47D7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3612" y="-7206"/>
            <a:ext cx="1068388" cy="1068388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5BD7B55A-1615-2C7F-E701-091D474381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257" y="2152244"/>
            <a:ext cx="6013436" cy="4459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170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276DA9-CFA9-930E-E217-31BD69D6F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308" y="1142335"/>
            <a:ext cx="11760712" cy="5435747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</a:pP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			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75B63B3-CDB6-DDCF-56DB-FFB30B51CAF9}"/>
              </a:ext>
            </a:extLst>
          </p:cNvPr>
          <p:cNvSpPr txBox="1"/>
          <p:nvPr/>
        </p:nvSpPr>
        <p:spPr>
          <a:xfrm>
            <a:off x="11127058" y="50181"/>
            <a:ext cx="118203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000" b="1" cap="all">
              <a:solidFill>
                <a:srgbClr val="EBEBEB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FD2B86C-5B51-B297-304F-4CC8081DD6EB}"/>
              </a:ext>
            </a:extLst>
          </p:cNvPr>
          <p:cNvSpPr txBox="1"/>
          <p:nvPr/>
        </p:nvSpPr>
        <p:spPr>
          <a:xfrm>
            <a:off x="219307" y="423333"/>
            <a:ext cx="686262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dirty="0"/>
              <a:t>SEGMENTATION DES CLIENTS – VISUALISATION</a:t>
            </a:r>
          </a:p>
        </p:txBody>
      </p:sp>
      <p:pic>
        <p:nvPicPr>
          <p:cNvPr id="8" name="Image 7" descr="Une image contenant Bleu électrique, Police, logo, Graphique&#10;&#10;Description générée automatiquement">
            <a:extLst>
              <a:ext uri="{FF2B5EF4-FFF2-40B4-BE49-F238E27FC236}">
                <a16:creationId xmlns:a16="http://schemas.microsoft.com/office/drawing/2014/main" id="{B31D1009-2FBC-4777-4821-1E9CD47D7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3612" y="-7206"/>
            <a:ext cx="1068388" cy="1068388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0FC5211A-4155-8FAB-0213-CD165DFF3A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989" y="2418304"/>
            <a:ext cx="5613484" cy="395085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9A286372-84DB-79C3-1913-4978610819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9673" y="2418304"/>
            <a:ext cx="5613484" cy="395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7547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276DA9-CFA9-930E-E217-31BD69D6F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308" y="1142336"/>
            <a:ext cx="11760712" cy="3719376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Objectif : </a:t>
            </a:r>
            <a:r>
              <a:rPr lang="en-US" sz="2400" dirty="0" err="1"/>
              <a:t>Simuler</a:t>
            </a:r>
            <a:r>
              <a:rPr lang="en-US" sz="2400" dirty="0"/>
              <a:t> </a:t>
            </a:r>
            <a:r>
              <a:rPr lang="en-US" sz="2400" dirty="0" err="1"/>
              <a:t>l’évolution</a:t>
            </a:r>
            <a:r>
              <a:rPr lang="en-US" sz="2400" dirty="0"/>
              <a:t> de la </a:t>
            </a:r>
            <a:r>
              <a:rPr lang="en-US" sz="2400" dirty="0" err="1"/>
              <a:t>stabilité</a:t>
            </a:r>
            <a:r>
              <a:rPr lang="en-US" sz="2400" dirty="0"/>
              <a:t> du clustering	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Baseline : 2017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Injection progressive des </a:t>
            </a:r>
            <a:r>
              <a:rPr lang="en-US" sz="2400" dirty="0" err="1"/>
              <a:t>commandes</a:t>
            </a:r>
            <a:r>
              <a:rPr lang="en-US" sz="2400" dirty="0"/>
              <a:t> </a:t>
            </a:r>
            <a:r>
              <a:rPr lang="en-US" sz="2400" dirty="0" err="1"/>
              <a:t>passées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2018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calculant</a:t>
            </a:r>
            <a:r>
              <a:rPr lang="en-US" sz="2400" dirty="0"/>
              <a:t> </a:t>
            </a:r>
            <a:r>
              <a:rPr lang="en-US" sz="2400" dirty="0" err="1"/>
              <a:t>l’indice</a:t>
            </a:r>
            <a:r>
              <a:rPr lang="en-US" sz="2400" dirty="0"/>
              <a:t> de Rand </a:t>
            </a:r>
            <a:r>
              <a:rPr lang="en-US" sz="2400" dirty="0" err="1"/>
              <a:t>ajusté</a:t>
            </a:r>
            <a:r>
              <a:rPr lang="en-US" sz="2400" dirty="0"/>
              <a:t> par rapport aux données de la baseline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 err="1"/>
              <a:t>Création</a:t>
            </a:r>
            <a:r>
              <a:rPr lang="en-US" sz="2400" dirty="0"/>
              <a:t> </a:t>
            </a:r>
            <a:r>
              <a:rPr lang="en-US" sz="2400" dirty="0" err="1"/>
              <a:t>d’une</a:t>
            </a:r>
            <a:r>
              <a:rPr lang="en-US" sz="2400" dirty="0"/>
              <a:t> </a:t>
            </a:r>
            <a:r>
              <a:rPr lang="en-US" sz="2400" dirty="0" err="1"/>
              <a:t>colonne</a:t>
            </a:r>
            <a:r>
              <a:rPr lang="en-US" sz="2400" dirty="0"/>
              <a:t> “</a:t>
            </a:r>
            <a:r>
              <a:rPr lang="en-US" sz="2400" dirty="0" err="1"/>
              <a:t>Mois</a:t>
            </a:r>
            <a:r>
              <a:rPr lang="en-US" sz="2400" dirty="0"/>
              <a:t>” et </a:t>
            </a:r>
            <a:r>
              <a:rPr lang="en-US" sz="2400" dirty="0" err="1"/>
              <a:t>une</a:t>
            </a:r>
            <a:r>
              <a:rPr lang="en-US" sz="2400" dirty="0"/>
              <a:t> </a:t>
            </a:r>
            <a:r>
              <a:rPr lang="en-US" sz="2400" dirty="0" err="1"/>
              <a:t>colonne</a:t>
            </a:r>
            <a:r>
              <a:rPr lang="en-US" sz="2400" dirty="0"/>
              <a:t> “</a:t>
            </a:r>
            <a:r>
              <a:rPr lang="en-US" sz="2400" dirty="0" err="1"/>
              <a:t>Semaines</a:t>
            </a:r>
            <a:r>
              <a:rPr lang="en-US" sz="2400" dirty="0"/>
              <a:t>”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75B63B3-CDB6-DDCF-56DB-FFB30B51CAF9}"/>
              </a:ext>
            </a:extLst>
          </p:cNvPr>
          <p:cNvSpPr txBox="1"/>
          <p:nvPr/>
        </p:nvSpPr>
        <p:spPr>
          <a:xfrm>
            <a:off x="11127058" y="50181"/>
            <a:ext cx="118203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000" b="1" cap="all">
              <a:solidFill>
                <a:srgbClr val="EBEBEB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FD2B86C-5B51-B297-304F-4CC8081DD6EB}"/>
              </a:ext>
            </a:extLst>
          </p:cNvPr>
          <p:cNvSpPr txBox="1"/>
          <p:nvPr/>
        </p:nvSpPr>
        <p:spPr>
          <a:xfrm>
            <a:off x="219307" y="423333"/>
            <a:ext cx="686262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dirty="0"/>
              <a:t>CONTRAT DE MAINTENANCE</a:t>
            </a:r>
          </a:p>
        </p:txBody>
      </p:sp>
      <p:pic>
        <p:nvPicPr>
          <p:cNvPr id="8" name="Image 7" descr="Une image contenant Bleu électrique, Police, logo, Graphique&#10;&#10;Description générée automatiquement">
            <a:extLst>
              <a:ext uri="{FF2B5EF4-FFF2-40B4-BE49-F238E27FC236}">
                <a16:creationId xmlns:a16="http://schemas.microsoft.com/office/drawing/2014/main" id="{B31D1009-2FBC-4777-4821-1E9CD47D7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3612" y="-7206"/>
            <a:ext cx="1068388" cy="1068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4230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276DA9-CFA9-930E-E217-31BD69D6F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308" y="1142336"/>
            <a:ext cx="11760712" cy="3719376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dirty="0" err="1"/>
              <a:t>Résultats</a:t>
            </a:r>
            <a:r>
              <a:rPr lang="en-US" sz="2400" dirty="0"/>
              <a:t> </a:t>
            </a:r>
            <a:r>
              <a:rPr lang="en-US" sz="2400" dirty="0" err="1"/>
              <a:t>simliaires</a:t>
            </a:r>
            <a:r>
              <a:rPr lang="en-US" sz="2400" dirty="0"/>
              <a:t>, </a:t>
            </a:r>
            <a:r>
              <a:rPr lang="en-US" sz="2400" dirty="0" err="1"/>
              <a:t>recommande</a:t>
            </a:r>
            <a:r>
              <a:rPr lang="en-US" sz="2400" dirty="0"/>
              <a:t> </a:t>
            </a:r>
            <a:r>
              <a:rPr lang="en-US" sz="2400" dirty="0" err="1"/>
              <a:t>màj</a:t>
            </a:r>
            <a:r>
              <a:rPr lang="en-US" sz="2400" dirty="0"/>
              <a:t> du </a:t>
            </a:r>
            <a:r>
              <a:rPr lang="en-US" sz="2400" dirty="0" err="1"/>
              <a:t>modèle</a:t>
            </a:r>
            <a:r>
              <a:rPr lang="en-US" sz="2400" dirty="0"/>
              <a:t> </a:t>
            </a:r>
            <a:r>
              <a:rPr lang="en-US" sz="2400" dirty="0" err="1"/>
              <a:t>toutes</a:t>
            </a:r>
            <a:r>
              <a:rPr lang="en-US" sz="2400" dirty="0"/>
              <a:t> les 4 à 5 </a:t>
            </a:r>
            <a:r>
              <a:rPr lang="en-US" sz="2400" dirty="0" err="1"/>
              <a:t>semaines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endParaRPr lang="en-US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75B63B3-CDB6-DDCF-56DB-FFB30B51CAF9}"/>
              </a:ext>
            </a:extLst>
          </p:cNvPr>
          <p:cNvSpPr txBox="1"/>
          <p:nvPr/>
        </p:nvSpPr>
        <p:spPr>
          <a:xfrm>
            <a:off x="11127058" y="50181"/>
            <a:ext cx="118203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000" b="1" cap="all">
              <a:solidFill>
                <a:srgbClr val="EBEBEB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FD2B86C-5B51-B297-304F-4CC8081DD6EB}"/>
              </a:ext>
            </a:extLst>
          </p:cNvPr>
          <p:cNvSpPr txBox="1"/>
          <p:nvPr/>
        </p:nvSpPr>
        <p:spPr>
          <a:xfrm>
            <a:off x="219307" y="423333"/>
            <a:ext cx="686262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dirty="0"/>
              <a:t>CONTRAT DE MAINTENANCE – ARI</a:t>
            </a:r>
          </a:p>
        </p:txBody>
      </p:sp>
      <p:pic>
        <p:nvPicPr>
          <p:cNvPr id="8" name="Image 7" descr="Une image contenant Bleu électrique, Police, logo, Graphique&#10;&#10;Description générée automatiquement">
            <a:extLst>
              <a:ext uri="{FF2B5EF4-FFF2-40B4-BE49-F238E27FC236}">
                <a16:creationId xmlns:a16="http://schemas.microsoft.com/office/drawing/2014/main" id="{B31D1009-2FBC-4777-4821-1E9CD47D7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3612" y="-7206"/>
            <a:ext cx="1068388" cy="1068388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B581F638-E7FF-C44D-815A-4AE9B8861F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392" y="2787676"/>
            <a:ext cx="5652663" cy="367489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B103D05-949F-C561-8A01-2947F3ABF2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5945" y="2787676"/>
            <a:ext cx="5652663" cy="36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8111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276DA9-CFA9-930E-E217-31BD69D6F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308" y="1142336"/>
            <a:ext cx="11760712" cy="3719376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</a:pP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endParaRPr lang="en-US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75B63B3-CDB6-DDCF-56DB-FFB30B51CAF9}"/>
              </a:ext>
            </a:extLst>
          </p:cNvPr>
          <p:cNvSpPr txBox="1"/>
          <p:nvPr/>
        </p:nvSpPr>
        <p:spPr>
          <a:xfrm>
            <a:off x="11127058" y="50181"/>
            <a:ext cx="118203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000" b="1" cap="all">
              <a:solidFill>
                <a:srgbClr val="EBEBEB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FD2B86C-5B51-B297-304F-4CC8081DD6EB}"/>
              </a:ext>
            </a:extLst>
          </p:cNvPr>
          <p:cNvSpPr txBox="1"/>
          <p:nvPr/>
        </p:nvSpPr>
        <p:spPr>
          <a:xfrm>
            <a:off x="219307" y="423333"/>
            <a:ext cx="89518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dirty="0"/>
              <a:t>CONTRAT DE MAINTENANCE – EVOLUTION DE LA DISTRIBUTION DES FEATURES</a:t>
            </a:r>
          </a:p>
        </p:txBody>
      </p:sp>
      <p:pic>
        <p:nvPicPr>
          <p:cNvPr id="8" name="Image 7" descr="Une image contenant Bleu électrique, Police, logo, Graphique&#10;&#10;Description générée automatiquement">
            <a:extLst>
              <a:ext uri="{FF2B5EF4-FFF2-40B4-BE49-F238E27FC236}">
                <a16:creationId xmlns:a16="http://schemas.microsoft.com/office/drawing/2014/main" id="{B31D1009-2FBC-4777-4821-1E9CD47D7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3612" y="-7206"/>
            <a:ext cx="1068388" cy="1068388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EB93A15E-3176-2A6B-8E99-5E2FF0409E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126" y="885749"/>
            <a:ext cx="6907878" cy="574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6523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276DA9-CFA9-930E-E217-31BD69D6F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308" y="1142336"/>
            <a:ext cx="11760712" cy="3719376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</a:pP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endParaRPr lang="en-US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75B63B3-CDB6-DDCF-56DB-FFB30B51CAF9}"/>
              </a:ext>
            </a:extLst>
          </p:cNvPr>
          <p:cNvSpPr txBox="1"/>
          <p:nvPr/>
        </p:nvSpPr>
        <p:spPr>
          <a:xfrm>
            <a:off x="11127058" y="50181"/>
            <a:ext cx="118203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000" b="1" cap="all">
              <a:solidFill>
                <a:srgbClr val="EBEBEB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FD2B86C-5B51-B297-304F-4CC8081DD6EB}"/>
              </a:ext>
            </a:extLst>
          </p:cNvPr>
          <p:cNvSpPr txBox="1"/>
          <p:nvPr/>
        </p:nvSpPr>
        <p:spPr>
          <a:xfrm>
            <a:off x="219307" y="423333"/>
            <a:ext cx="89518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dirty="0"/>
              <a:t>CONTRAT DE MAINTENANCE – EVOLUTION DE LA DISTRIBUTION DES FEATURES</a:t>
            </a:r>
          </a:p>
        </p:txBody>
      </p:sp>
      <p:pic>
        <p:nvPicPr>
          <p:cNvPr id="8" name="Image 7" descr="Une image contenant Bleu électrique, Police, logo, Graphique&#10;&#10;Description générée automatiquement">
            <a:extLst>
              <a:ext uri="{FF2B5EF4-FFF2-40B4-BE49-F238E27FC236}">
                <a16:creationId xmlns:a16="http://schemas.microsoft.com/office/drawing/2014/main" id="{B31D1009-2FBC-4777-4821-1E9CD47D7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3612" y="-7206"/>
            <a:ext cx="1068388" cy="1068388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FC003D68-C0D5-059B-2657-66B5CB2206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507" y="856040"/>
            <a:ext cx="6959922" cy="5789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6722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276DA9-CFA9-930E-E217-31BD69D6F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308" y="1142336"/>
            <a:ext cx="11760712" cy="3719376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</a:pP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endParaRPr lang="en-US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75B63B3-CDB6-DDCF-56DB-FFB30B51CAF9}"/>
              </a:ext>
            </a:extLst>
          </p:cNvPr>
          <p:cNvSpPr txBox="1"/>
          <p:nvPr/>
        </p:nvSpPr>
        <p:spPr>
          <a:xfrm>
            <a:off x="11127058" y="50181"/>
            <a:ext cx="118203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000" b="1" cap="all">
              <a:solidFill>
                <a:srgbClr val="EBEBEB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FD2B86C-5B51-B297-304F-4CC8081DD6EB}"/>
              </a:ext>
            </a:extLst>
          </p:cNvPr>
          <p:cNvSpPr txBox="1"/>
          <p:nvPr/>
        </p:nvSpPr>
        <p:spPr>
          <a:xfrm>
            <a:off x="219307" y="423333"/>
            <a:ext cx="89518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dirty="0"/>
              <a:t>CONCLUSION</a:t>
            </a:r>
          </a:p>
        </p:txBody>
      </p:sp>
      <p:pic>
        <p:nvPicPr>
          <p:cNvPr id="8" name="Image 7" descr="Une image contenant Bleu électrique, Police, logo, Graphique&#10;&#10;Description générée automatiquement">
            <a:extLst>
              <a:ext uri="{FF2B5EF4-FFF2-40B4-BE49-F238E27FC236}">
                <a16:creationId xmlns:a16="http://schemas.microsoft.com/office/drawing/2014/main" id="{B31D1009-2FBC-4777-4821-1E9CD47D7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3612" y="-7206"/>
            <a:ext cx="1068388" cy="1068388"/>
          </a:xfrm>
          <a:prstGeom prst="rect">
            <a:avLst/>
          </a:prstGeom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E12928A7-DE35-99E0-CC68-6C18B74B4652}"/>
              </a:ext>
            </a:extLst>
          </p:cNvPr>
          <p:cNvSpPr txBox="1">
            <a:spLocks/>
          </p:cNvSpPr>
          <p:nvPr/>
        </p:nvSpPr>
        <p:spPr>
          <a:xfrm>
            <a:off x="211980" y="1142336"/>
            <a:ext cx="11760712" cy="188152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90000"/>
              </a:lnSpc>
            </a:pPr>
            <a:r>
              <a:rPr lang="fr-FR" sz="2400" dirty="0"/>
              <a:t>Comme mentionné précédemment, je suggère une mise à jour du modèle toutes les 4 à 5 semaines afin qu'il reste pertinent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422180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766</TotalTime>
  <Words>1304</Words>
  <Application>Microsoft Office PowerPoint</Application>
  <PresentationFormat>Grand écran</PresentationFormat>
  <Paragraphs>91</Paragraphs>
  <Slides>21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6" baseType="lpstr">
      <vt:lpstr>Calibri</vt:lpstr>
      <vt:lpstr>Century Gothic</vt:lpstr>
      <vt:lpstr>Consolas</vt:lpstr>
      <vt:lpstr>Wingdings 3</vt:lpstr>
      <vt:lpstr>Ion</vt:lpstr>
      <vt:lpstr>Présentation PowerPoint</vt:lpstr>
      <vt:lpstr>Urgence : Requêtes SQL  Missions principales :  - Segmentation des clients - Contrat de maintenance</vt:lpstr>
      <vt:lpstr>Requête 1 – 322 résultats   Requête 2      Requête 3       Requête 4           </vt:lpstr>
      <vt:lpstr>Ajout de colonnes à la table customers en vue d’une segmentation RFM :  - Valeur de paiement - Review score - Date de commande     </vt:lpstr>
      <vt:lpstr>Filtre sur les dates de commande de 01-2017 à 08-2018 </vt:lpstr>
      <vt:lpstr>Création d’une ligne par client et création de nouvelles features :        </vt:lpstr>
      <vt:lpstr>97% des clients n’ont passé      77% des review score moyens sont qu’une seule commande      supérieurs ou égaux à 4       </vt:lpstr>
      <vt:lpstr>Beaucoup plus de valeurs dans les 300 derniers jours         </vt:lpstr>
      <vt:lpstr>Manifestement pas de corrélation entre nos variables         </vt:lpstr>
      <vt:lpstr>La méthode du coude suggère de conserver 5 clusters                Peu d’individus dans les clusters 3 et 4 </vt:lpstr>
      <vt:lpstr> Nombre de commandes       Panier moyen                 </vt:lpstr>
      <vt:lpstr>  Review score moyen     Jours depuis la dernière commande                 </vt:lpstr>
      <vt:lpstr>Jeu de données trop volumineux (problème de mémoire), il a fallu partitioner                 </vt:lpstr>
      <vt:lpstr>Méthode du coude pour déterminer la        17 clusters avec meilleure valeur d’eps             eps = 0,7                </vt:lpstr>
      <vt:lpstr>Pour déterminer quelles variables contribuent à chaque composante                 </vt:lpstr>
      <vt:lpstr>                 </vt:lpstr>
      <vt:lpstr>Objectif : Simuler l’évolution de la stabilité du clustering   Baseline : 2017  Injection progressive des commandes passées en 2018 en calculant l’indice de Rand ajusté par rapport aux données de la baseline  Création d’une colonne “Mois” et une colonne “Semaines”</vt:lpstr>
      <vt:lpstr>Résultats simliaires, recommande màj du modèle toutes les 4 à 5 semaines        </vt:lpstr>
      <vt:lpstr>      </vt:lpstr>
      <vt:lpstr>      </vt:lpstr>
      <vt:lpstr>  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/>
  <cp:lastModifiedBy>Quentin Veynacther</cp:lastModifiedBy>
  <cp:revision>2283</cp:revision>
  <dcterms:created xsi:type="dcterms:W3CDTF">2022-07-30T00:02:45Z</dcterms:created>
  <dcterms:modified xsi:type="dcterms:W3CDTF">2024-07-03T14:29:39Z</dcterms:modified>
</cp:coreProperties>
</file>